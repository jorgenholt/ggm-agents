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Lectures were fine at the conceptual level — the gap was between that and the actual repo. Emphasise that the documentation work is not overhead: it is the context layer the agents will need, and it doubles as our own record of understanding, which we can keep updating.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of this slide: we want to be working towards a thesis, not only reading. Ask for a reaction to the shape, not the detail. An optional small proof of concept could sit between chapters 5 and 6 if they want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1 is the one to push on — several later conclusions rest on the four-layer reading being right. Question 2 is the most valuable for the thesis itself: the whole premise rests on what that expert burden actually consists of. Ask Lukas for a concrete walkthrough.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1002975" cy="228600"/>
          </a:xfrm>
          <a:prstGeom prst="rect">
            <a:avLst/>
          </a:prstGeom>
          <a:noFill/>
        </p:spPr>
        <p:txBody>
          <a:bodyPr wrap="square" lIns="0" rIns="0" tIns="0" bIns="0">
            <a:spAutoFit/>
          </a:bodyPr>
          <a:lstStyle/>
          <a:p>
            <a:pPr algn="l"/>
            <a:r>
              <a:rPr sz="1100" b="1" i="0">
                <a:solidFill>
                  <a:srgbClr val="1C7293"/>
                </a:solidFill>
                <a:latin typeface="Calibri"/>
              </a:rPr>
              <a:t>WEEK 38  ·  PROGRESS</a:t>
            </a:r>
          </a:p>
        </p:txBody>
      </p:sp>
      <p:sp>
        <p:nvSpPr>
          <p:cNvPr id="3" name="TextBox 2"/>
          <p:cNvSpPr txBox="1"/>
          <p:nvPr/>
        </p:nvSpPr>
        <p:spPr>
          <a:xfrm>
            <a:off x="594360" y="603504"/>
            <a:ext cx="11002975" cy="640080"/>
          </a:xfrm>
          <a:prstGeom prst="rect">
            <a:avLst/>
          </a:prstGeom>
          <a:noFill/>
        </p:spPr>
        <p:txBody>
          <a:bodyPr wrap="square" lIns="0" rIns="0" tIns="0" bIns="0">
            <a:spAutoFit/>
          </a:bodyPr>
          <a:lstStyle/>
          <a:p>
            <a:pPr algn="l"/>
            <a:r>
              <a:rPr sz="3300" b="1" i="0">
                <a:solidFill>
                  <a:srgbClr val="21295C"/>
                </a:solidFill>
                <a:latin typeface="Cambria"/>
              </a:rPr>
              <a:t>Where we are</a:t>
            </a:r>
          </a:p>
        </p:txBody>
      </p:sp>
      <p:sp>
        <p:nvSpPr>
          <p:cNvPr id="4" name="Oval 3"/>
          <p:cNvSpPr/>
          <p:nvPr/>
        </p:nvSpPr>
        <p:spPr>
          <a:xfrm>
            <a:off x="594360" y="1408176"/>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5" name="TextBox 4"/>
          <p:cNvSpPr txBox="1"/>
          <p:nvPr/>
        </p:nvSpPr>
        <p:spPr>
          <a:xfrm>
            <a:off x="1033271" y="1417320"/>
            <a:ext cx="10564063" cy="256032"/>
          </a:xfrm>
          <a:prstGeom prst="rect">
            <a:avLst/>
          </a:prstGeom>
          <a:noFill/>
        </p:spPr>
        <p:txBody>
          <a:bodyPr wrap="square" lIns="0" rIns="0" tIns="0" bIns="0">
            <a:spAutoFit/>
          </a:bodyPr>
          <a:lstStyle/>
          <a:p>
            <a:pPr algn="l"/>
            <a:r>
              <a:rPr sz="1500" b="1" i="0">
                <a:solidFill>
                  <a:srgbClr val="21295C"/>
                </a:solidFill>
                <a:latin typeface="Calibri"/>
              </a:rPr>
              <a:t>Lectures — done</a:t>
            </a:r>
          </a:p>
        </p:txBody>
      </p:sp>
      <p:sp>
        <p:nvSpPr>
          <p:cNvPr id="6" name="TextBox 5"/>
          <p:cNvSpPr txBox="1"/>
          <p:nvPr/>
        </p:nvSpPr>
        <p:spPr>
          <a:xfrm>
            <a:off x="1033271" y="1700784"/>
            <a:ext cx="10472623" cy="566928"/>
          </a:xfrm>
          <a:prstGeom prst="rect">
            <a:avLst/>
          </a:prstGeom>
          <a:noFill/>
        </p:spPr>
        <p:txBody>
          <a:bodyPr wrap="square" lIns="0" rIns="0" tIns="0" bIns="0">
            <a:spAutoFit/>
          </a:bodyPr>
          <a:lstStyle/>
          <a:p>
            <a:pPr algn="l">
              <a:lnSpc>
                <a:spcPts val="1600"/>
              </a:lnSpc>
            </a:pPr>
            <a:r>
              <a:rPr sz="1250" b="0" i="0">
                <a:solidFill>
                  <a:srgbClr val="3A4550"/>
                </a:solidFill>
                <a:latin typeface="Calibri"/>
              </a:rPr>
              <a:t>Read through them and followed what Lukas outlined in the email. They stay fairly conceptual, so that level was enough to keep up.</a:t>
            </a:r>
          </a:p>
        </p:txBody>
      </p:sp>
      <p:sp>
        <p:nvSpPr>
          <p:cNvPr id="7" name="Oval 6"/>
          <p:cNvSpPr/>
          <p:nvPr/>
        </p:nvSpPr>
        <p:spPr>
          <a:xfrm>
            <a:off x="594360" y="2340864"/>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8" name="TextBox 7"/>
          <p:cNvSpPr txBox="1"/>
          <p:nvPr/>
        </p:nvSpPr>
        <p:spPr>
          <a:xfrm>
            <a:off x="1033271" y="2350008"/>
            <a:ext cx="10564063" cy="256032"/>
          </a:xfrm>
          <a:prstGeom prst="rect">
            <a:avLst/>
          </a:prstGeom>
          <a:noFill/>
        </p:spPr>
        <p:txBody>
          <a:bodyPr wrap="square" lIns="0" rIns="0" tIns="0" bIns="0">
            <a:spAutoFit/>
          </a:bodyPr>
          <a:lstStyle/>
          <a:p>
            <a:pPr algn="l"/>
            <a:r>
              <a:rPr sz="1500" b="1" i="0">
                <a:solidFill>
                  <a:srgbClr val="21295C"/>
                </a:solidFill>
                <a:latin typeface="Calibri"/>
              </a:rPr>
              <a:t>Then the code — a different thing entirely</a:t>
            </a:r>
          </a:p>
        </p:txBody>
      </p:sp>
      <p:sp>
        <p:nvSpPr>
          <p:cNvPr id="9" name="TextBox 8"/>
          <p:cNvSpPr txBox="1"/>
          <p:nvPr/>
        </p:nvSpPr>
        <p:spPr>
          <a:xfrm>
            <a:off x="1033271" y="2633472"/>
            <a:ext cx="10472623" cy="566928"/>
          </a:xfrm>
          <a:prstGeom prst="rect">
            <a:avLst/>
          </a:prstGeom>
          <a:noFill/>
        </p:spPr>
        <p:txBody>
          <a:bodyPr wrap="square" lIns="0" rIns="0" tIns="0" bIns="0">
            <a:spAutoFit/>
          </a:bodyPr>
          <a:lstStyle/>
          <a:p>
            <a:pPr algn="l">
              <a:lnSpc>
                <a:spcPts val="1600"/>
              </a:lnSpc>
            </a:pPr>
            <a:r>
              <a:rPr sz="1250" b="0" i="0">
                <a:solidFill>
                  <a:srgbClr val="3A4550"/>
                </a:solidFill>
                <a:latin typeface="Calibri"/>
              </a:rPr>
              <a:t>Understanding the lectures and understanding the repo turned out to be two separate problems. Once the concepts felt solid we moved on to what actually matters for us: how the model gets configured.</a:t>
            </a:r>
          </a:p>
        </p:txBody>
      </p:sp>
      <p:sp>
        <p:nvSpPr>
          <p:cNvPr id="10" name="Oval 9"/>
          <p:cNvSpPr/>
          <p:nvPr/>
        </p:nvSpPr>
        <p:spPr>
          <a:xfrm>
            <a:off x="594360" y="3273552"/>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1" name="TextBox 10"/>
          <p:cNvSpPr txBox="1"/>
          <p:nvPr/>
        </p:nvSpPr>
        <p:spPr>
          <a:xfrm>
            <a:off x="1033271" y="3282696"/>
            <a:ext cx="10564063" cy="256032"/>
          </a:xfrm>
          <a:prstGeom prst="rect">
            <a:avLst/>
          </a:prstGeom>
          <a:noFill/>
        </p:spPr>
        <p:txBody>
          <a:bodyPr wrap="square" lIns="0" rIns="0" tIns="0" bIns="0">
            <a:spAutoFit/>
          </a:bodyPr>
          <a:lstStyle/>
          <a:p>
            <a:pPr algn="l"/>
            <a:r>
              <a:rPr sz="1500" b="1" i="0">
                <a:solidFill>
                  <a:srgbClr val="21295C"/>
                </a:solidFill>
                <a:latin typeface="Calibri"/>
              </a:rPr>
              <a:t>Technical setup — complete</a:t>
            </a:r>
          </a:p>
        </p:txBody>
      </p:sp>
      <p:sp>
        <p:nvSpPr>
          <p:cNvPr id="12" name="TextBox 11"/>
          <p:cNvSpPr txBox="1"/>
          <p:nvPr/>
        </p:nvSpPr>
        <p:spPr>
          <a:xfrm>
            <a:off x="1033271" y="3566160"/>
            <a:ext cx="10472623" cy="566928"/>
          </a:xfrm>
          <a:prstGeom prst="rect">
            <a:avLst/>
          </a:prstGeom>
          <a:noFill/>
        </p:spPr>
        <p:txBody>
          <a:bodyPr wrap="square" lIns="0" rIns="0" tIns="0" bIns="0">
            <a:spAutoFit/>
          </a:bodyPr>
          <a:lstStyle/>
          <a:p>
            <a:pPr algn="l">
              <a:lnSpc>
                <a:spcPts val="1600"/>
              </a:lnSpc>
            </a:pPr>
            <a:r>
              <a:rPr sz="1250" b="0" i="0">
                <a:solidFill>
                  <a:srgbClr val="3A4550"/>
                </a:solidFill>
                <a:latin typeface="Calibri"/>
              </a:rPr>
              <a:t>Repo, submodule, environment and collaboration workflow are all in place.</a:t>
            </a:r>
          </a:p>
        </p:txBody>
      </p:sp>
      <p:sp>
        <p:nvSpPr>
          <p:cNvPr id="13" name="Oval 12"/>
          <p:cNvSpPr/>
          <p:nvPr/>
        </p:nvSpPr>
        <p:spPr>
          <a:xfrm>
            <a:off x="594360" y="4206240"/>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4" name="TextBox 13"/>
          <p:cNvSpPr txBox="1"/>
          <p:nvPr/>
        </p:nvSpPr>
        <p:spPr>
          <a:xfrm>
            <a:off x="1033271" y="4215384"/>
            <a:ext cx="10564063" cy="256032"/>
          </a:xfrm>
          <a:prstGeom prst="rect">
            <a:avLst/>
          </a:prstGeom>
          <a:noFill/>
        </p:spPr>
        <p:txBody>
          <a:bodyPr wrap="square" lIns="0" rIns="0" tIns="0" bIns="0">
            <a:spAutoFit/>
          </a:bodyPr>
          <a:lstStyle/>
          <a:p>
            <a:pPr algn="l"/>
            <a:r>
              <a:rPr sz="1500" b="1" i="0">
                <a:solidFill>
                  <a:srgbClr val="21295C"/>
                </a:solidFill>
                <a:latin typeface="Calibri"/>
              </a:rPr>
              <a:t>Writing it down, not just learning it</a:t>
            </a:r>
          </a:p>
        </p:txBody>
      </p:sp>
      <p:sp>
        <p:nvSpPr>
          <p:cNvPr id="15" name="TextBox 14"/>
          <p:cNvSpPr txBox="1"/>
          <p:nvPr/>
        </p:nvSpPr>
        <p:spPr>
          <a:xfrm>
            <a:off x="1033271" y="4498848"/>
            <a:ext cx="10472623" cy="566928"/>
          </a:xfrm>
          <a:prstGeom prst="rect">
            <a:avLst/>
          </a:prstGeom>
          <a:noFill/>
        </p:spPr>
        <p:txBody>
          <a:bodyPr wrap="square" lIns="0" rIns="0" tIns="0" bIns="0">
            <a:spAutoFit/>
          </a:bodyPr>
          <a:lstStyle/>
          <a:p>
            <a:pPr algn="l">
              <a:lnSpc>
                <a:spcPts val="1600"/>
              </a:lnSpc>
            </a:pPr>
            <a:r>
              <a:rPr sz="1250" b="0" i="0">
                <a:solidFill>
                  <a:srgbClr val="3A4550"/>
                </a:solidFill>
                <a:latin typeface="Calibri"/>
              </a:rPr>
              <a:t>We prioritised documenting how the model works. An agent cannot simply be handed the GGM documentation and the repo — it needs context, the same as we did. It also keeps our own understanding explicit and easy to update.</a:t>
            </a:r>
          </a:p>
        </p:txBody>
      </p:sp>
      <p:sp>
        <p:nvSpPr>
          <p:cNvPr id="16" name="Rounded Rectangle 15"/>
          <p:cNvSpPr/>
          <p:nvPr/>
        </p:nvSpPr>
        <p:spPr>
          <a:xfrm>
            <a:off x="594360" y="5285232"/>
            <a:ext cx="11002975" cy="841248"/>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413248"/>
            <a:ext cx="10545775" cy="621792"/>
          </a:xfrm>
          <a:prstGeom prst="rect">
            <a:avLst/>
          </a:prstGeom>
          <a:noFill/>
        </p:spPr>
        <p:txBody>
          <a:bodyPr wrap="square" lIns="0" rIns="0" tIns="0" bIns="0">
            <a:spAutoFit/>
          </a:bodyPr>
          <a:lstStyle/>
          <a:p>
            <a:pPr algn="l">
              <a:lnSpc>
                <a:spcPts val="1600"/>
              </a:lnSpc>
            </a:pPr>
            <a:r>
              <a:rPr sz="1250" b="1" i="0">
                <a:solidFill>
                  <a:srgbClr val="21295C"/>
                </a:solidFill>
                <a:latin typeface="Calibri"/>
              </a:rPr>
              <a:t>One caveat — and the reason for slide 3.  </a:t>
            </a:r>
            <a:r>
              <a:rPr sz="1250" b="0" i="0">
                <a:solidFill>
                  <a:srgbClr val="3A4550"/>
                </a:solidFill>
                <a:latin typeface="Calibri"/>
              </a:rPr>
              <a:t>Much of our picture of how configuration works is inferred from the documentation and the repo, not confirmed by anyone. We would like to check that we have the gist right before we build on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1002975" cy="228600"/>
          </a:xfrm>
          <a:prstGeom prst="rect">
            <a:avLst/>
          </a:prstGeom>
          <a:noFill/>
        </p:spPr>
        <p:txBody>
          <a:bodyPr wrap="square" lIns="0" rIns="0" tIns="0" bIns="0">
            <a:spAutoFit/>
          </a:bodyPr>
          <a:lstStyle/>
          <a:p>
            <a:pPr algn="l"/>
            <a:r>
              <a:rPr sz="1100" b="1" i="0">
                <a:solidFill>
                  <a:srgbClr val="1C7293"/>
                </a:solidFill>
                <a:latin typeface="Calibri"/>
              </a:rPr>
              <a:t>WEEK 38  ·  FOR YOUR FEEDBACK</a:t>
            </a:r>
          </a:p>
        </p:txBody>
      </p:sp>
      <p:sp>
        <p:nvSpPr>
          <p:cNvPr id="3" name="TextBox 2"/>
          <p:cNvSpPr txBox="1"/>
          <p:nvPr/>
        </p:nvSpPr>
        <p:spPr>
          <a:xfrm>
            <a:off x="594360" y="603504"/>
            <a:ext cx="11002975" cy="640080"/>
          </a:xfrm>
          <a:prstGeom prst="rect">
            <a:avLst/>
          </a:prstGeom>
          <a:noFill/>
        </p:spPr>
        <p:txBody>
          <a:bodyPr wrap="square" lIns="0" rIns="0" tIns="0" bIns="0">
            <a:spAutoFit/>
          </a:bodyPr>
          <a:lstStyle/>
          <a:p>
            <a:pPr algn="l"/>
            <a:r>
              <a:rPr sz="3300" b="1" i="0">
                <a:solidFill>
                  <a:srgbClr val="21295C"/>
                </a:solidFill>
                <a:latin typeface="Cambria"/>
              </a:rPr>
              <a:t>Proposed thesis structure</a:t>
            </a:r>
          </a:p>
        </p:txBody>
      </p:sp>
      <p:sp>
        <p:nvSpPr>
          <p:cNvPr id="4" name="TextBox 3"/>
          <p:cNvSpPr txBox="1"/>
          <p:nvPr/>
        </p:nvSpPr>
        <p:spPr>
          <a:xfrm>
            <a:off x="594360" y="1325880"/>
            <a:ext cx="11002975" cy="603504"/>
          </a:xfrm>
          <a:prstGeom prst="rect">
            <a:avLst/>
          </a:prstGeom>
          <a:noFill/>
        </p:spPr>
        <p:txBody>
          <a:bodyPr wrap="square" lIns="0" rIns="0" tIns="0" bIns="0">
            <a:spAutoFit/>
          </a:bodyPr>
          <a:lstStyle/>
          <a:p>
            <a:pPr algn="l">
              <a:lnSpc>
                <a:spcPts val="1700"/>
              </a:lnSpc>
            </a:pPr>
            <a:r>
              <a:rPr sz="1300" b="1" i="0">
                <a:solidFill>
                  <a:srgbClr val="21295C"/>
                </a:solidFill>
                <a:latin typeface="Calibri"/>
              </a:rPr>
              <a:t>The argument in one sentence:  </a:t>
            </a:r>
            <a:r>
              <a:rPr sz="1300" b="0" i="1">
                <a:solidFill>
                  <a:srgbClr val="3A4550"/>
                </a:solidFill>
                <a:latin typeface="Calibri"/>
              </a:rPr>
              <a:t>GGM's workflow carries a documented expert burden. Some of it suits an LLM agent, some belongs in ordinary code, and some should not be automated at all. The thesis works out which is which.</a:t>
            </a:r>
          </a:p>
        </p:txBody>
      </p:sp>
      <p:sp>
        <p:nvSpPr>
          <p:cNvPr id="5" name="Oval 4"/>
          <p:cNvSpPr/>
          <p:nvPr/>
        </p:nvSpPr>
        <p:spPr>
          <a:xfrm>
            <a:off x="594360" y="2029968"/>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6" name="TextBox 5"/>
          <p:cNvSpPr txBox="1"/>
          <p:nvPr/>
        </p:nvSpPr>
        <p:spPr>
          <a:xfrm>
            <a:off x="1033271" y="2011680"/>
            <a:ext cx="2743200" cy="256032"/>
          </a:xfrm>
          <a:prstGeom prst="rect">
            <a:avLst/>
          </a:prstGeom>
          <a:noFill/>
        </p:spPr>
        <p:txBody>
          <a:bodyPr wrap="square" lIns="0" rIns="0" tIns="0" bIns="0">
            <a:spAutoFit/>
          </a:bodyPr>
          <a:lstStyle/>
          <a:p>
            <a:pPr algn="l"/>
            <a:r>
              <a:rPr sz="1450" b="1" i="0">
                <a:solidFill>
                  <a:srgbClr val="21295C"/>
                </a:solidFill>
                <a:latin typeface="Calibri"/>
              </a:rPr>
              <a:t>Introduction</a:t>
            </a:r>
          </a:p>
        </p:txBody>
      </p:sp>
      <p:sp>
        <p:nvSpPr>
          <p:cNvPr id="7" name="TextBox 6"/>
          <p:cNvSpPr txBox="1"/>
          <p:nvPr/>
        </p:nvSpPr>
        <p:spPr>
          <a:xfrm>
            <a:off x="3840480" y="2029968"/>
            <a:ext cx="7665415" cy="256032"/>
          </a:xfrm>
          <a:prstGeom prst="rect">
            <a:avLst/>
          </a:prstGeom>
          <a:noFill/>
        </p:spPr>
        <p:txBody>
          <a:bodyPr wrap="square" lIns="0" rIns="0" tIns="0" bIns="0">
            <a:spAutoFit/>
          </a:bodyPr>
          <a:lstStyle/>
          <a:p>
            <a:pPr algn="l"/>
            <a:r>
              <a:rPr sz="1250" b="0" i="0">
                <a:solidFill>
                  <a:srgbClr val="3A4550"/>
                </a:solidFill>
                <a:latin typeface="Calibri"/>
              </a:rPr>
              <a:t>The problem, the question, and what this thesis does and doesn't do</a:t>
            </a:r>
          </a:p>
        </p:txBody>
      </p:sp>
      <p:sp>
        <p:nvSpPr>
          <p:cNvPr id="8" name="Oval 7"/>
          <p:cNvSpPr/>
          <p:nvPr/>
        </p:nvSpPr>
        <p:spPr>
          <a:xfrm>
            <a:off x="594360" y="2660904"/>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9" name="TextBox 8"/>
          <p:cNvSpPr txBox="1"/>
          <p:nvPr/>
        </p:nvSpPr>
        <p:spPr>
          <a:xfrm>
            <a:off x="1033271" y="2642616"/>
            <a:ext cx="2743200" cy="256032"/>
          </a:xfrm>
          <a:prstGeom prst="rect">
            <a:avLst/>
          </a:prstGeom>
          <a:noFill/>
        </p:spPr>
        <p:txBody>
          <a:bodyPr wrap="square" lIns="0" rIns="0" tIns="0" bIns="0">
            <a:spAutoFit/>
          </a:bodyPr>
          <a:lstStyle/>
          <a:p>
            <a:pPr algn="l"/>
            <a:r>
              <a:rPr sz="1450" b="1" i="0">
                <a:solidFill>
                  <a:srgbClr val="21295C"/>
                </a:solidFill>
                <a:latin typeface="Calibri"/>
              </a:rPr>
              <a:t>The Global Gas Model</a:t>
            </a:r>
          </a:p>
        </p:txBody>
      </p:sp>
      <p:sp>
        <p:nvSpPr>
          <p:cNvPr id="10" name="TextBox 9"/>
          <p:cNvSpPr txBox="1"/>
          <p:nvPr/>
        </p:nvSpPr>
        <p:spPr>
          <a:xfrm>
            <a:off x="3840480" y="2660904"/>
            <a:ext cx="7665415" cy="256032"/>
          </a:xfrm>
          <a:prstGeom prst="rect">
            <a:avLst/>
          </a:prstGeom>
          <a:noFill/>
        </p:spPr>
        <p:txBody>
          <a:bodyPr wrap="square" lIns="0" rIns="0" tIns="0" bIns="0">
            <a:spAutoFit/>
          </a:bodyPr>
          <a:lstStyle/>
          <a:p>
            <a:pPr algn="l"/>
            <a:r>
              <a:rPr sz="1250" b="0" i="0">
                <a:solidFill>
                  <a:srgbClr val="3A4550"/>
                </a:solidFill>
                <a:latin typeface="Calibri"/>
              </a:rPr>
              <a:t>What it is, and where the manual work actually goes</a:t>
            </a:r>
          </a:p>
        </p:txBody>
      </p:sp>
      <p:sp>
        <p:nvSpPr>
          <p:cNvPr id="11" name="Oval 10"/>
          <p:cNvSpPr/>
          <p:nvPr/>
        </p:nvSpPr>
        <p:spPr>
          <a:xfrm>
            <a:off x="594360" y="3291840"/>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2" name="TextBox 11"/>
          <p:cNvSpPr txBox="1"/>
          <p:nvPr/>
        </p:nvSpPr>
        <p:spPr>
          <a:xfrm>
            <a:off x="1033271" y="3273552"/>
            <a:ext cx="2743200" cy="256032"/>
          </a:xfrm>
          <a:prstGeom prst="rect">
            <a:avLst/>
          </a:prstGeom>
          <a:noFill/>
        </p:spPr>
        <p:txBody>
          <a:bodyPr wrap="square" lIns="0" rIns="0" tIns="0" bIns="0">
            <a:spAutoFit/>
          </a:bodyPr>
          <a:lstStyle/>
          <a:p>
            <a:pPr algn="l"/>
            <a:r>
              <a:rPr sz="1450" b="1" i="0">
                <a:solidFill>
                  <a:srgbClr val="21295C"/>
                </a:solidFill>
                <a:latin typeface="Calibri"/>
              </a:rPr>
              <a:t>LLM agents</a:t>
            </a:r>
          </a:p>
        </p:txBody>
      </p:sp>
      <p:sp>
        <p:nvSpPr>
          <p:cNvPr id="13" name="TextBox 12"/>
          <p:cNvSpPr txBox="1"/>
          <p:nvPr/>
        </p:nvSpPr>
        <p:spPr>
          <a:xfrm>
            <a:off x="3840480" y="3291840"/>
            <a:ext cx="7665415" cy="256032"/>
          </a:xfrm>
          <a:prstGeom prst="rect">
            <a:avLst/>
          </a:prstGeom>
          <a:noFill/>
        </p:spPr>
        <p:txBody>
          <a:bodyPr wrap="square" lIns="0" rIns="0" tIns="0" bIns="0">
            <a:spAutoFit/>
          </a:bodyPr>
          <a:lstStyle/>
          <a:p>
            <a:pPr algn="l"/>
            <a:r>
              <a:rPr sz="1250" b="0" i="0">
                <a:solidFill>
                  <a:srgbClr val="3A4550"/>
                </a:solidFill>
                <a:latin typeface="Calibri"/>
              </a:rPr>
              <a:t>What they are good at, what they are bad at</a:t>
            </a:r>
          </a:p>
        </p:txBody>
      </p:sp>
      <p:sp>
        <p:nvSpPr>
          <p:cNvPr id="14" name="Oval 13"/>
          <p:cNvSpPr/>
          <p:nvPr/>
        </p:nvSpPr>
        <p:spPr>
          <a:xfrm>
            <a:off x="594360" y="3922775"/>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5" name="TextBox 14"/>
          <p:cNvSpPr txBox="1"/>
          <p:nvPr/>
        </p:nvSpPr>
        <p:spPr>
          <a:xfrm>
            <a:off x="1033271" y="3904487"/>
            <a:ext cx="2743200" cy="256032"/>
          </a:xfrm>
          <a:prstGeom prst="rect">
            <a:avLst/>
          </a:prstGeom>
          <a:noFill/>
        </p:spPr>
        <p:txBody>
          <a:bodyPr wrap="square" lIns="0" rIns="0" tIns="0" bIns="0">
            <a:spAutoFit/>
          </a:bodyPr>
          <a:lstStyle/>
          <a:p>
            <a:pPr algn="l"/>
            <a:r>
              <a:rPr sz="1450" b="1" i="0">
                <a:solidFill>
                  <a:srgbClr val="21295C"/>
                </a:solidFill>
                <a:latin typeface="Calibri"/>
              </a:rPr>
              <a:t>Related work</a:t>
            </a:r>
          </a:p>
        </p:txBody>
      </p:sp>
      <p:sp>
        <p:nvSpPr>
          <p:cNvPr id="16" name="TextBox 15"/>
          <p:cNvSpPr txBox="1"/>
          <p:nvPr/>
        </p:nvSpPr>
        <p:spPr>
          <a:xfrm>
            <a:off x="3840480" y="3922775"/>
            <a:ext cx="7665415" cy="256032"/>
          </a:xfrm>
          <a:prstGeom prst="rect">
            <a:avLst/>
          </a:prstGeom>
          <a:noFill/>
        </p:spPr>
        <p:txBody>
          <a:bodyPr wrap="square" lIns="0" rIns="0" tIns="0" bIns="0">
            <a:spAutoFit/>
          </a:bodyPr>
          <a:lstStyle/>
          <a:p>
            <a:pPr algn="l"/>
            <a:r>
              <a:rPr sz="1250" b="0" i="0">
                <a:solidFill>
                  <a:srgbClr val="3A4550"/>
                </a:solidFill>
                <a:latin typeface="Calibri"/>
              </a:rPr>
              <a:t>Who has tried this on other models, and how it went</a:t>
            </a:r>
          </a:p>
        </p:txBody>
      </p:sp>
      <p:sp>
        <p:nvSpPr>
          <p:cNvPr id="17" name="Rounded Rectangle 16"/>
          <p:cNvSpPr/>
          <p:nvPr/>
        </p:nvSpPr>
        <p:spPr>
          <a:xfrm>
            <a:off x="466344" y="4453127"/>
            <a:ext cx="11259007" cy="548640"/>
          </a:xfrm>
          <a:prstGeom prst="roundRect">
            <a:avLst>
              <a:gd name="adj" fmla="val 6000"/>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4360" y="4553711"/>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19" name="TextBox 18"/>
          <p:cNvSpPr txBox="1"/>
          <p:nvPr/>
        </p:nvSpPr>
        <p:spPr>
          <a:xfrm>
            <a:off x="1033271" y="4535423"/>
            <a:ext cx="2743200" cy="256032"/>
          </a:xfrm>
          <a:prstGeom prst="rect">
            <a:avLst/>
          </a:prstGeom>
          <a:noFill/>
        </p:spPr>
        <p:txBody>
          <a:bodyPr wrap="square" lIns="0" rIns="0" tIns="0" bIns="0">
            <a:spAutoFit/>
          </a:bodyPr>
          <a:lstStyle/>
          <a:p>
            <a:pPr algn="l"/>
            <a:r>
              <a:rPr sz="1450" b="1" i="0">
                <a:solidFill>
                  <a:srgbClr val="1C7293"/>
                </a:solidFill>
                <a:latin typeface="Calibri"/>
              </a:rPr>
              <a:t>Which GGM tasks fit</a:t>
            </a:r>
          </a:p>
        </p:txBody>
      </p:sp>
      <p:sp>
        <p:nvSpPr>
          <p:cNvPr id="20" name="TextBox 19"/>
          <p:cNvSpPr txBox="1"/>
          <p:nvPr/>
        </p:nvSpPr>
        <p:spPr>
          <a:xfrm>
            <a:off x="3840480" y="4553711"/>
            <a:ext cx="7665415" cy="256032"/>
          </a:xfrm>
          <a:prstGeom prst="rect">
            <a:avLst/>
          </a:prstGeom>
          <a:noFill/>
        </p:spPr>
        <p:txBody>
          <a:bodyPr wrap="square" lIns="0" rIns="0" tIns="0" bIns="0">
            <a:spAutoFit/>
          </a:bodyPr>
          <a:lstStyle/>
          <a:p>
            <a:pPr algn="l"/>
            <a:r>
              <a:rPr sz="1250" b="0" i="0">
                <a:solidFill>
                  <a:srgbClr val="3A4550"/>
                </a:solidFill>
                <a:latin typeface="Calibri"/>
              </a:rPr>
              <a:t>The core chapter — the mapping, and the reasoning behind it</a:t>
            </a:r>
          </a:p>
        </p:txBody>
      </p:sp>
      <p:sp>
        <p:nvSpPr>
          <p:cNvPr id="21" name="Oval 20"/>
          <p:cNvSpPr/>
          <p:nvPr/>
        </p:nvSpPr>
        <p:spPr>
          <a:xfrm>
            <a:off x="594360" y="5184647"/>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6</a:t>
            </a:r>
          </a:p>
        </p:txBody>
      </p:sp>
      <p:sp>
        <p:nvSpPr>
          <p:cNvPr id="22" name="TextBox 21"/>
          <p:cNvSpPr txBox="1"/>
          <p:nvPr/>
        </p:nvSpPr>
        <p:spPr>
          <a:xfrm>
            <a:off x="1033271" y="5166359"/>
            <a:ext cx="2743200" cy="256032"/>
          </a:xfrm>
          <a:prstGeom prst="rect">
            <a:avLst/>
          </a:prstGeom>
          <a:noFill/>
        </p:spPr>
        <p:txBody>
          <a:bodyPr wrap="square" lIns="0" rIns="0" tIns="0" bIns="0">
            <a:spAutoFit/>
          </a:bodyPr>
          <a:lstStyle/>
          <a:p>
            <a:pPr algn="l"/>
            <a:r>
              <a:rPr sz="1450" b="1" i="0">
                <a:solidFill>
                  <a:srgbClr val="21295C"/>
                </a:solidFill>
                <a:latin typeface="Calibri"/>
              </a:rPr>
              <a:t>Conclusion</a:t>
            </a:r>
          </a:p>
        </p:txBody>
      </p:sp>
      <p:sp>
        <p:nvSpPr>
          <p:cNvPr id="23" name="TextBox 22"/>
          <p:cNvSpPr txBox="1"/>
          <p:nvPr/>
        </p:nvSpPr>
        <p:spPr>
          <a:xfrm>
            <a:off x="3840480" y="5184647"/>
            <a:ext cx="7665415" cy="256032"/>
          </a:xfrm>
          <a:prstGeom prst="rect">
            <a:avLst/>
          </a:prstGeom>
          <a:noFill/>
        </p:spPr>
        <p:txBody>
          <a:bodyPr wrap="square" lIns="0" rIns="0" tIns="0" bIns="0">
            <a:spAutoFit/>
          </a:bodyPr>
          <a:lstStyle/>
          <a:p>
            <a:pPr algn="l"/>
            <a:r>
              <a:rPr sz="1250" b="0" i="0">
                <a:solidFill>
                  <a:srgbClr val="3A4550"/>
                </a:solidFill>
                <a:latin typeface="Calibri"/>
              </a:rPr>
              <a:t>What we'd build in the master's thesis</a:t>
            </a:r>
          </a:p>
        </p:txBody>
      </p:sp>
      <p:sp>
        <p:nvSpPr>
          <p:cNvPr id="24" name="TextBox 23"/>
          <p:cNvSpPr txBox="1"/>
          <p:nvPr/>
        </p:nvSpPr>
        <p:spPr>
          <a:xfrm>
            <a:off x="594360" y="5897880"/>
            <a:ext cx="11002975" cy="640080"/>
          </a:xfrm>
          <a:prstGeom prst="rect">
            <a:avLst/>
          </a:prstGeom>
          <a:noFill/>
        </p:spPr>
        <p:txBody>
          <a:bodyPr wrap="square" lIns="0" rIns="0" tIns="0" bIns="0">
            <a:spAutoFit/>
          </a:bodyPr>
          <a:lstStyle/>
          <a:p>
            <a:pPr algn="l">
              <a:lnSpc>
                <a:spcPts val="1600"/>
              </a:lnSpc>
            </a:pPr>
            <a:r>
              <a:rPr sz="1250" b="1" i="0">
                <a:solidFill>
                  <a:srgbClr val="21295C"/>
                </a:solidFill>
                <a:latin typeface="Calibri"/>
              </a:rPr>
              <a:t>We have started a more detailed outline.</a:t>
            </a:r>
            <a:r>
              <a:rPr sz="1250" b="0" i="0">
                <a:solidFill>
                  <a:srgbClr val="3A4550"/>
                </a:solidFill>
                <a:latin typeface="Calibri"/>
              </a:rPr>
              <a:t>  Rather than asking you “what should go in the GGM chapter?”, we would rather bring a full proposal — so you see the whole vision at once and we can talk it through. Aiming to expand it over the coming week.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65760"/>
            <a:ext cx="11002975" cy="228600"/>
          </a:xfrm>
          <a:prstGeom prst="rect">
            <a:avLst/>
          </a:prstGeom>
          <a:noFill/>
        </p:spPr>
        <p:txBody>
          <a:bodyPr wrap="square" lIns="0" rIns="0" tIns="0" bIns="0">
            <a:spAutoFit/>
          </a:bodyPr>
          <a:lstStyle/>
          <a:p>
            <a:pPr algn="l"/>
            <a:r>
              <a:rPr sz="1100" b="1" i="0">
                <a:solidFill>
                  <a:srgbClr val="1C7293"/>
                </a:solidFill>
                <a:latin typeface="Calibri"/>
              </a:rPr>
              <a:t>WEEK 38  ·  QUESTIONS FOR YOU</a:t>
            </a:r>
          </a:p>
        </p:txBody>
      </p:sp>
      <p:sp>
        <p:nvSpPr>
          <p:cNvPr id="3" name="TextBox 2"/>
          <p:cNvSpPr txBox="1"/>
          <p:nvPr/>
        </p:nvSpPr>
        <p:spPr>
          <a:xfrm>
            <a:off x="594360" y="603504"/>
            <a:ext cx="11002975" cy="640080"/>
          </a:xfrm>
          <a:prstGeom prst="rect">
            <a:avLst/>
          </a:prstGeom>
          <a:noFill/>
        </p:spPr>
        <p:txBody>
          <a:bodyPr wrap="square" lIns="0" rIns="0" tIns="0" bIns="0">
            <a:spAutoFit/>
          </a:bodyPr>
          <a:lstStyle/>
          <a:p>
            <a:pPr algn="l"/>
            <a:r>
              <a:rPr sz="3300" b="1" i="0">
                <a:solidFill>
                  <a:srgbClr val="21295C"/>
                </a:solidFill>
                <a:latin typeface="Cambria"/>
              </a:rPr>
              <a:t>Where we need help</a:t>
            </a:r>
          </a:p>
        </p:txBody>
      </p:sp>
      <p:sp>
        <p:nvSpPr>
          <p:cNvPr id="4" name="Oval 3"/>
          <p:cNvSpPr/>
          <p:nvPr/>
        </p:nvSpPr>
        <p:spPr>
          <a:xfrm>
            <a:off x="594360" y="1463040"/>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5" name="TextBox 4"/>
          <p:cNvSpPr txBox="1"/>
          <p:nvPr/>
        </p:nvSpPr>
        <p:spPr>
          <a:xfrm>
            <a:off x="1033271" y="1444752"/>
            <a:ext cx="10564063" cy="274320"/>
          </a:xfrm>
          <a:prstGeom prst="rect">
            <a:avLst/>
          </a:prstGeom>
          <a:noFill/>
        </p:spPr>
        <p:txBody>
          <a:bodyPr wrap="square" lIns="0" rIns="0" tIns="0" bIns="0">
            <a:spAutoFit/>
          </a:bodyPr>
          <a:lstStyle/>
          <a:p>
            <a:pPr algn="l"/>
            <a:r>
              <a:rPr sz="1600" b="1" i="0">
                <a:solidFill>
                  <a:srgbClr val="21295C"/>
                </a:solidFill>
                <a:latin typeface="Calibri"/>
              </a:rPr>
              <a:t>Have we understood the configuration correctly?</a:t>
            </a:r>
          </a:p>
        </p:txBody>
      </p:sp>
      <p:sp>
        <p:nvSpPr>
          <p:cNvPr id="6" name="TextBox 5"/>
          <p:cNvSpPr txBox="1"/>
          <p:nvPr/>
        </p:nvSpPr>
        <p:spPr>
          <a:xfrm>
            <a:off x="1033271" y="1773936"/>
            <a:ext cx="10381183" cy="777240"/>
          </a:xfrm>
          <a:prstGeom prst="rect">
            <a:avLst/>
          </a:prstGeom>
          <a:noFill/>
        </p:spPr>
        <p:txBody>
          <a:bodyPr wrap="square" lIns="0" rIns="0" tIns="0" bIns="0">
            <a:spAutoFit/>
          </a:bodyPr>
          <a:lstStyle/>
          <a:p>
            <a:pPr algn="l">
              <a:lnSpc>
                <a:spcPts val="1600"/>
              </a:lnSpc>
            </a:pPr>
            <a:r>
              <a:rPr sz="1250" b="0" i="0">
                <a:solidFill>
                  <a:srgbClr val="3A4550"/>
                </a:solidFill>
                <a:latin typeface="Calibri"/>
              </a:rPr>
              <a:t>Our reading is that GGM's inputs fall into four kinds: physical facts collected from ENTSOG, EIA and GIIGNL; projections read off a chosen WEO or PRIMES outlook; literature parameters set once and rarely touched; and calibrated quantities that are not collected at all, but inferred by tuning until the model reproduces reality. Is that how you think about it?</a:t>
            </a:r>
          </a:p>
        </p:txBody>
      </p:sp>
      <p:sp>
        <p:nvSpPr>
          <p:cNvPr id="7" name="Oval 6"/>
          <p:cNvSpPr/>
          <p:nvPr/>
        </p:nvSpPr>
        <p:spPr>
          <a:xfrm>
            <a:off x="594360" y="2926080"/>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8" name="TextBox 7"/>
          <p:cNvSpPr txBox="1"/>
          <p:nvPr/>
        </p:nvSpPr>
        <p:spPr>
          <a:xfrm>
            <a:off x="1033271" y="2907792"/>
            <a:ext cx="10564063" cy="274320"/>
          </a:xfrm>
          <a:prstGeom prst="rect">
            <a:avLst/>
          </a:prstGeom>
          <a:noFill/>
        </p:spPr>
        <p:txBody>
          <a:bodyPr wrap="square" lIns="0" rIns="0" tIns="0" bIns="0">
            <a:spAutoFit/>
          </a:bodyPr>
          <a:lstStyle/>
          <a:p>
            <a:pPr algn="l"/>
            <a:r>
              <a:rPr sz="1600" b="1" i="0">
                <a:solidFill>
                  <a:srgbClr val="21295C"/>
                </a:solidFill>
                <a:latin typeface="Calibri"/>
              </a:rPr>
              <a:t>How does calibration actually work in practice?</a:t>
            </a:r>
          </a:p>
        </p:txBody>
      </p:sp>
      <p:sp>
        <p:nvSpPr>
          <p:cNvPr id="9" name="TextBox 8"/>
          <p:cNvSpPr txBox="1"/>
          <p:nvPr/>
        </p:nvSpPr>
        <p:spPr>
          <a:xfrm>
            <a:off x="1033271" y="3236976"/>
            <a:ext cx="10381183" cy="777240"/>
          </a:xfrm>
          <a:prstGeom prst="rect">
            <a:avLst/>
          </a:prstGeom>
          <a:noFill/>
        </p:spPr>
        <p:txBody>
          <a:bodyPr wrap="square" lIns="0" rIns="0" tIns="0" bIns="0">
            <a:spAutoFit/>
          </a:bodyPr>
          <a:lstStyle/>
          <a:p>
            <a:pPr algn="l">
              <a:lnSpc>
                <a:spcPts val="1600"/>
              </a:lnSpc>
            </a:pPr>
            <a:r>
              <a:rPr sz="1250" b="0" i="0">
                <a:solidFill>
                  <a:srgbClr val="3A4550"/>
                </a:solidFill>
                <a:latin typeface="Calibri"/>
              </a:rPr>
              <a:t>The documentation says it takes an experienced analyst days to weeks, but not what the analyst actually does. Could we walk through tuning one parameter — where you start, how you choose between the candidate causes, and how you know when to stop?</a:t>
            </a:r>
          </a:p>
        </p:txBody>
      </p:sp>
      <p:sp>
        <p:nvSpPr>
          <p:cNvPr id="10" name="Oval 9"/>
          <p:cNvSpPr/>
          <p:nvPr/>
        </p:nvSpPr>
        <p:spPr>
          <a:xfrm>
            <a:off x="594360" y="4389120"/>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1" name="TextBox 10"/>
          <p:cNvSpPr txBox="1"/>
          <p:nvPr/>
        </p:nvSpPr>
        <p:spPr>
          <a:xfrm>
            <a:off x="1033271" y="4370832"/>
            <a:ext cx="10564063" cy="274320"/>
          </a:xfrm>
          <a:prstGeom prst="rect">
            <a:avLst/>
          </a:prstGeom>
          <a:noFill/>
        </p:spPr>
        <p:txBody>
          <a:bodyPr wrap="square" lIns="0" rIns="0" tIns="0" bIns="0">
            <a:spAutoFit/>
          </a:bodyPr>
          <a:lstStyle/>
          <a:p>
            <a:pPr algn="l"/>
            <a:r>
              <a:rPr sz="1600" b="1" i="0">
                <a:solidFill>
                  <a:srgbClr val="21295C"/>
                </a:solidFill>
                <a:latin typeface="Calibri"/>
              </a:rPr>
              <a:t>Does the proposed structure look right?</a:t>
            </a:r>
          </a:p>
        </p:txBody>
      </p:sp>
      <p:sp>
        <p:nvSpPr>
          <p:cNvPr id="12" name="TextBox 11"/>
          <p:cNvSpPr txBox="1"/>
          <p:nvPr/>
        </p:nvSpPr>
        <p:spPr>
          <a:xfrm>
            <a:off x="1033271" y="4700016"/>
            <a:ext cx="10381183" cy="777240"/>
          </a:xfrm>
          <a:prstGeom prst="rect">
            <a:avLst/>
          </a:prstGeom>
          <a:noFill/>
        </p:spPr>
        <p:txBody>
          <a:bodyPr wrap="square" lIns="0" rIns="0" tIns="0" bIns="0">
            <a:spAutoFit/>
          </a:bodyPr>
          <a:lstStyle/>
          <a:p>
            <a:pPr algn="l">
              <a:lnSpc>
                <a:spcPts val="1600"/>
              </a:lnSpc>
            </a:pPr>
            <a:r>
              <a:rPr sz="1250" b="0" i="0">
                <a:solidFill>
                  <a:srgbClr val="3A4550"/>
                </a:solidFill>
                <a:latin typeface="Calibri"/>
              </a:rPr>
              <a:t>Mainly two things: how narrow should the research question be, and do you want a proof of concept, or is a well-argued exploration enough on its own?</a:t>
            </a:r>
          </a:p>
        </p:txBody>
      </p:sp>
      <p:sp>
        <p:nvSpPr>
          <p:cNvPr id="13" name="TextBox 12"/>
          <p:cNvSpPr txBox="1"/>
          <p:nvPr/>
        </p:nvSpPr>
        <p:spPr>
          <a:xfrm>
            <a:off x="594360" y="6053328"/>
            <a:ext cx="11002975" cy="274320"/>
          </a:xfrm>
          <a:prstGeom prst="rect">
            <a:avLst/>
          </a:prstGeom>
          <a:noFill/>
        </p:spPr>
        <p:txBody>
          <a:bodyPr wrap="square" lIns="0" rIns="0" tIns="0" bIns="0">
            <a:spAutoFit/>
          </a:bodyPr>
          <a:lstStyle/>
          <a:p>
            <a:pPr algn="l"/>
            <a:r>
              <a:rPr sz="1150" b="0" i="1">
                <a:solidFill>
                  <a:srgbClr val="76818C"/>
                </a:solidFill>
                <a:latin typeface="Calibri"/>
              </a:rPr>
              <a:t>The full question list is in the repo — happy to go through more if there is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38 — project thesis progress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