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>
                <a:solidFill>
                  <a:srgbClr val="1A1A1A"/>
                </a:solidFill>
                <a:latin typeface="Calibri"/>
              </a:rPr>
              <a:t>Project thesis — proposed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6070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100"/>
              </a:lnSpc>
              <a:spcBef>
                <a:spcPts val="800"/>
              </a:spcBef>
              <a:spcAft>
                <a:spcPts val="300"/>
              </a:spcAft>
            </a:pPr>
            <a:r>
              <a:rPr sz="1600" b="1" i="0">
                <a:solidFill>
                  <a:srgbClr val="1A1A1A"/>
                </a:solidFill>
                <a:latin typeface="Calibri"/>
              </a:rPr>
              <a:t>The argument we want to make</a:t>
            </a:r>
          </a:p>
          <a:p>
            <a:pPr>
              <a:lnSpc>
                <a:spcPts val="2100"/>
              </a:lnSpc>
              <a:spcAft>
                <a:spcPts val="7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The GGM workflow contains a documented, substantial expert burden. That burden decomposes into tasks with different properties. Some are mechanical and belong in ordinary code. Some need judgment over unstructured context and are a genuine fit for an LLM. Some should not be automated at all, because the failure mode is a plausible-looking wrong answer.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154680"/>
            <a:ext cx="106070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100"/>
              </a:lnSpc>
              <a:spcBef>
                <a:spcPts val="800"/>
              </a:spcBef>
              <a:spcAft>
                <a:spcPts val="300"/>
              </a:spcAft>
            </a:pPr>
            <a:r>
              <a:rPr sz="1600" b="1" i="0">
                <a:solidFill>
                  <a:srgbClr val="1A1A1A"/>
                </a:solidFill>
                <a:latin typeface="Calibri"/>
              </a:rPr>
              <a:t>What the contribution is</a:t>
            </a:r>
          </a:p>
          <a:p>
            <a:pPr>
              <a:lnSpc>
                <a:spcPts val="2100"/>
              </a:lnSpc>
              <a:spcAft>
                <a:spcPts val="7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The mapping and its justification — not enthusiasm, and not a build.</a:t>
            </a:r>
          </a:p>
          <a:p>
            <a:pPr>
              <a:lnSpc>
                <a:spcPts val="2100"/>
              </a:lnSpc>
              <a:spcAft>
                <a:spcPts val="7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Arguing that parts of the workflow </a:t>
            </a:r>
            <a:r>
              <a:rPr sz="1500" b="0" i="1">
                <a:solidFill>
                  <a:srgbClr val="1A1A1A"/>
                </a:solidFill>
                <a:latin typeface="Calibri"/>
              </a:rPr>
              <a:t>should not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be automated is what makes this credible rather than promotional. The GGM documentation hands us the argument: it warns that a wrongly calibrated model produces biased results that look like market logic. That is exactly the error class an LLM is worst at catching.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>
                <a:solidFill>
                  <a:srgbClr val="1A1A1A"/>
                </a:solidFill>
                <a:latin typeface="Calibri"/>
              </a:rPr>
              <a:t>Structure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87552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700"/>
              </a:lnSpc>
              <a:spcAft>
                <a:spcPts val="0"/>
              </a:spcAft>
            </a:pPr>
            <a:r>
              <a:rPr sz="1250" b="0" i="0">
                <a:solidFill>
                  <a:srgbClr val="5E5E5E"/>
                </a:solidFill>
                <a:latin typeface="Calibri"/>
              </a:rPr>
              <a:t>Nine sections. Chapters 6–9 can be folded into one if you'd rather.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600200"/>
            <a:ext cx="1060704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500"/>
              </a:lnSpc>
              <a:spcAft>
                <a:spcPts val="800"/>
              </a:spcAft>
            </a:pPr>
            <a:r>
              <a:rPr sz="1600" b="1" i="0">
                <a:solidFill>
                  <a:srgbClr val="1A1A1A"/>
                </a:solidFill>
                <a:latin typeface="Calibri"/>
              </a:rPr>
              <a:t>1.  </a:t>
            </a:r>
            <a:r>
              <a:rPr sz="1600" b="0" i="0">
                <a:solidFill>
                  <a:srgbClr val="1A1A1A"/>
                </a:solidFill>
                <a:latin typeface="Calibri"/>
              </a:rPr>
              <a:t>Introduction</a:t>
            </a:r>
          </a:p>
          <a:p>
            <a:pPr>
              <a:lnSpc>
                <a:spcPts val="2500"/>
              </a:lnSpc>
              <a:spcAft>
                <a:spcPts val="800"/>
              </a:spcAft>
            </a:pPr>
            <a:r>
              <a:rPr sz="1600" b="1" i="0">
                <a:solidFill>
                  <a:srgbClr val="1A1A1A"/>
                </a:solidFill>
                <a:latin typeface="Calibri"/>
              </a:rPr>
              <a:t>2.  </a:t>
            </a:r>
            <a:r>
              <a:rPr sz="1600" b="0" i="0">
                <a:solidFill>
                  <a:srgbClr val="1A1A1A"/>
                </a:solidFill>
                <a:latin typeface="Calibri"/>
              </a:rPr>
              <a:t>Background: the Global Gas Model</a:t>
            </a:r>
          </a:p>
          <a:p>
            <a:pPr>
              <a:lnSpc>
                <a:spcPts val="2500"/>
              </a:lnSpc>
              <a:spcAft>
                <a:spcPts val="800"/>
              </a:spcAft>
            </a:pPr>
            <a:r>
              <a:rPr sz="1600" b="1" i="0">
                <a:solidFill>
                  <a:srgbClr val="1A1A1A"/>
                </a:solidFill>
                <a:latin typeface="Calibri"/>
              </a:rPr>
              <a:t>3.  </a:t>
            </a:r>
            <a:r>
              <a:rPr sz="1600" b="0" i="0">
                <a:solidFill>
                  <a:srgbClr val="1A1A1A"/>
                </a:solidFill>
                <a:latin typeface="Calibri"/>
              </a:rPr>
              <a:t>LLM agents</a:t>
            </a:r>
          </a:p>
          <a:p>
            <a:pPr>
              <a:lnSpc>
                <a:spcPts val="2500"/>
              </a:lnSpc>
              <a:spcAft>
                <a:spcPts val="800"/>
              </a:spcAft>
            </a:pPr>
            <a:r>
              <a:rPr sz="1600" b="1" i="0">
                <a:solidFill>
                  <a:srgbClr val="1A1A1A"/>
                </a:solidFill>
                <a:latin typeface="Calibri"/>
              </a:rPr>
              <a:t>4.  </a:t>
            </a:r>
            <a:r>
              <a:rPr sz="1600" b="0" i="0">
                <a:solidFill>
                  <a:srgbClr val="1A1A1A"/>
                </a:solidFill>
                <a:latin typeface="Calibri"/>
              </a:rPr>
              <a:t>Related work</a:t>
            </a:r>
          </a:p>
          <a:p>
            <a:pPr>
              <a:lnSpc>
                <a:spcPts val="2500"/>
              </a:lnSpc>
              <a:spcAft>
                <a:spcPts val="800"/>
              </a:spcAft>
            </a:pPr>
            <a:r>
              <a:rPr sz="1600" b="1" i="0">
                <a:solidFill>
                  <a:srgbClr val="1A1A1A"/>
                </a:solidFill>
                <a:latin typeface="Calibri"/>
              </a:rPr>
              <a:t>5.  </a:t>
            </a:r>
            <a:r>
              <a:rPr sz="1600" b="1" i="0">
                <a:solidFill>
                  <a:srgbClr val="1A1A1A"/>
                </a:solidFill>
                <a:latin typeface="Calibri"/>
              </a:rPr>
              <a:t>Task suitability analysis  —  the core contribution</a:t>
            </a:r>
          </a:p>
          <a:p>
            <a:pPr>
              <a:lnSpc>
                <a:spcPts val="2500"/>
              </a:lnSpc>
              <a:spcAft>
                <a:spcPts val="800"/>
              </a:spcAft>
            </a:pPr>
            <a:r>
              <a:rPr sz="1600" b="1" i="0">
                <a:solidFill>
                  <a:srgbClr val="1A1A1A"/>
                </a:solidFill>
                <a:latin typeface="Calibri"/>
              </a:rPr>
              <a:t>6.  </a:t>
            </a:r>
            <a:r>
              <a:rPr sz="1600" b="0" i="0">
                <a:solidFill>
                  <a:srgbClr val="1A1A1A"/>
                </a:solidFill>
                <a:latin typeface="Calibri"/>
              </a:rPr>
              <a:t>Design sketch for the master's thesis</a:t>
            </a:r>
          </a:p>
          <a:p>
            <a:pPr>
              <a:lnSpc>
                <a:spcPts val="2500"/>
              </a:lnSpc>
              <a:spcAft>
                <a:spcPts val="800"/>
              </a:spcAft>
            </a:pPr>
            <a:r>
              <a:rPr sz="1600" b="1" i="0">
                <a:solidFill>
                  <a:srgbClr val="1A1A1A"/>
                </a:solidFill>
                <a:latin typeface="Calibri"/>
              </a:rPr>
              <a:t>7.  </a:t>
            </a:r>
            <a:r>
              <a:rPr sz="1600" b="0" i="0">
                <a:solidFill>
                  <a:srgbClr val="1A1A1A"/>
                </a:solidFill>
                <a:latin typeface="Calibri"/>
              </a:rPr>
              <a:t>Proof of concept  (if in scope)</a:t>
            </a:r>
          </a:p>
          <a:p>
            <a:pPr>
              <a:lnSpc>
                <a:spcPts val="2500"/>
              </a:lnSpc>
              <a:spcAft>
                <a:spcPts val="800"/>
              </a:spcAft>
            </a:pPr>
            <a:r>
              <a:rPr sz="1600" b="1" i="0">
                <a:solidFill>
                  <a:srgbClr val="1A1A1A"/>
                </a:solidFill>
                <a:latin typeface="Calibri"/>
              </a:rPr>
              <a:t>8.  </a:t>
            </a:r>
            <a:r>
              <a:rPr sz="1600" b="0" i="0">
                <a:solidFill>
                  <a:srgbClr val="1A1A1A"/>
                </a:solidFill>
                <a:latin typeface="Calibri"/>
              </a:rPr>
              <a:t>Discussion</a:t>
            </a:r>
          </a:p>
          <a:p>
            <a:pPr>
              <a:lnSpc>
                <a:spcPts val="2500"/>
              </a:lnSpc>
              <a:spcAft>
                <a:spcPts val="800"/>
              </a:spcAft>
            </a:pPr>
            <a:r>
              <a:rPr sz="1600" b="1" i="0">
                <a:solidFill>
                  <a:srgbClr val="1A1A1A"/>
                </a:solidFill>
                <a:latin typeface="Calibri"/>
              </a:rPr>
              <a:t>9.  </a:t>
            </a:r>
            <a:r>
              <a:rPr sz="1600" b="0" i="0">
                <a:solidFill>
                  <a:srgbClr val="1A1A1A"/>
                </a:solidFill>
                <a:latin typeface="Calibri"/>
              </a:rPr>
              <a:t>Conclusion and plan for the master's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7607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700"/>
              </a:lnSpc>
              <a:spcAft>
                <a:spcPts val="0"/>
              </a:spcAft>
            </a:pPr>
            <a:r>
              <a:rPr sz="1250" b="0" i="0">
                <a:solidFill>
                  <a:srgbClr val="5E5E5E"/>
                </a:solidFill>
                <a:latin typeface="Calibri"/>
              </a:rPr>
              <a:t>Sections 2 and 3 are the two we'd already identified. The rest is scaffolding around them.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>
                <a:solidFill>
                  <a:srgbClr val="1A1A1A"/>
                </a:solidFill>
                <a:latin typeface="Calibri"/>
              </a:rPr>
              <a:t>1. Introduction   ·   2. The Global Gas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63040"/>
            <a:ext cx="106070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900"/>
              </a:lnSpc>
              <a:spcBef>
                <a:spcPts val="800"/>
              </a:spcBef>
              <a:spcAft>
                <a:spcPts val="300"/>
              </a:spcAft>
            </a:pPr>
            <a:r>
              <a:rPr sz="1600" b="1" i="0">
                <a:solidFill>
                  <a:srgbClr val="1A1A1A"/>
                </a:solidFill>
                <a:latin typeface="Calibri"/>
              </a:rPr>
              <a:t>1.  Introduction</a:t>
            </a:r>
          </a:p>
          <a:p>
            <a:pPr marL="160020" indent="-160020">
              <a:lnSpc>
                <a:spcPts val="1900"/>
              </a:lnSpc>
              <a:spcAft>
                <a:spcPts val="700"/>
              </a:spcAft>
              <a:buNone/>
            </a:pPr>
            <a:r>
              <a:rPr sz="1400" b="0" i="0">
                <a:solidFill>
                  <a:srgbClr val="1A1A1A"/>
                </a:solidFill>
                <a:latin typeface="Calibri"/>
              </a:rPr>
              <a:t>–  Problem, research question, contribution, and how the thesis is laid out</a:t>
            </a:r>
          </a:p>
          <a:p>
            <a:pPr marL="160020" indent="-160020">
              <a:lnSpc>
                <a:spcPts val="1900"/>
              </a:lnSpc>
              <a:spcAft>
                <a:spcPts val="700"/>
              </a:spcAft>
              <a:buNone/>
            </a:pPr>
            <a:r>
              <a:rPr sz="1400" b="0" i="0">
                <a:solidFill>
                  <a:srgbClr val="1A1A1A"/>
                </a:solidFill>
                <a:latin typeface="Calibri"/>
              </a:rPr>
              <a:t>–  State the scope boundary plainly: this is exploration, the building is the master's thesis. It frames what the reader should expect.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34640"/>
            <a:ext cx="106070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900"/>
              </a:lnSpc>
              <a:spcBef>
                <a:spcPts val="800"/>
              </a:spcBef>
              <a:spcAft>
                <a:spcPts val="300"/>
              </a:spcAft>
            </a:pPr>
            <a:r>
              <a:rPr sz="1600" b="1" i="0">
                <a:solidFill>
                  <a:srgbClr val="1A1A1A"/>
                </a:solidFill>
                <a:latin typeface="Calibri"/>
              </a:rPr>
              <a:t>2.  Background: the Global Gas Model</a:t>
            </a:r>
          </a:p>
          <a:p>
            <a:pPr>
              <a:lnSpc>
                <a:spcPts val="1900"/>
              </a:lnSpc>
              <a:spcAft>
                <a:spcPts val="700"/>
              </a:spcAft>
            </a:pPr>
            <a:r>
              <a:rPr sz="1250" b="0" i="0">
                <a:solidFill>
                  <a:srgbClr val="5E5E5E"/>
                </a:solidFill>
                <a:latin typeface="Calibri"/>
              </a:rPr>
              <a:t>The reader does not know what GGM is and can't be assumed to.</a:t>
            </a:r>
          </a:p>
          <a:p>
            <a:pPr marL="160020" indent="-160020">
              <a:lnSpc>
                <a:spcPts val="1900"/>
              </a:lnSpc>
              <a:spcAft>
                <a:spcPts val="700"/>
              </a:spcAft>
              <a:buNone/>
            </a:pPr>
            <a:r>
              <a:rPr sz="1400" b="0" i="0">
                <a:solidFill>
                  <a:srgbClr val="1A1A1A"/>
                </a:solidFill>
                <a:latin typeface="Calibri"/>
              </a:rPr>
              <a:t>–  What the model is and what question it answers — partial equilibrium, multi-period, market power</a:t>
            </a:r>
          </a:p>
          <a:p>
            <a:pPr marL="160020" indent="-160020">
              <a:lnSpc>
                <a:spcPts val="1900"/>
              </a:lnSpc>
              <a:spcAft>
                <a:spcPts val="700"/>
              </a:spcAft>
              <a:buNone/>
            </a:pPr>
            <a:r>
              <a:rPr sz="1400" b="0" i="0">
                <a:solidFill>
                  <a:srgbClr val="1A1A1A"/>
                </a:solidFill>
                <a:latin typeface="Calibri"/>
              </a:rPr>
              <a:t>–  Structure: nodes, arcs, suppliers, seasons; the pipeline and LNG value chains</a:t>
            </a:r>
          </a:p>
          <a:p>
            <a:pPr marL="160020" indent="-160020">
              <a:lnSpc>
                <a:spcPts val="1900"/>
              </a:lnSpc>
              <a:spcAft>
                <a:spcPts val="700"/>
              </a:spcAft>
              <a:buNone/>
            </a:pPr>
            <a:r>
              <a:rPr sz="1400" b="0" i="0">
                <a:solidFill>
                  <a:srgbClr val="1A1A1A"/>
                </a:solidFill>
                <a:latin typeface="Calibri"/>
              </a:rPr>
              <a:t>–  Inputs: the three workbooks and what's in them</a:t>
            </a:r>
          </a:p>
          <a:p>
            <a:pPr marL="160020" indent="-160020">
              <a:lnSpc>
                <a:spcPts val="1900"/>
              </a:lnSpc>
              <a:spcAft>
                <a:spcPts val="700"/>
              </a:spcAft>
              <a:buNone/>
            </a:pPr>
            <a:r>
              <a:rPr sz="1400" b="1" i="0">
                <a:solidFill>
                  <a:srgbClr val="1A1A1A"/>
                </a:solidFill>
                <a:latin typeface="Calibri"/>
              </a:rPr>
              <a:t>–  The workflow around the model</a:t>
            </a:r>
            <a:r>
              <a:rPr sz="1400" b="0" i="0">
                <a:solidFill>
                  <a:srgbClr val="1A1A1A"/>
                </a:solidFill>
                <a:latin typeface="Calibri"/>
              </a:rPr>
              <a:t>  — the part that actually matters, and the part the documentation covers least. We fill this from the weekly meetings.</a:t>
            </a:r>
          </a:p>
          <a:p>
            <a:pPr marL="160020" indent="-160020">
              <a:lnSpc>
                <a:spcPts val="1900"/>
              </a:lnSpc>
              <a:spcAft>
                <a:spcPts val="700"/>
              </a:spcAft>
              <a:buNone/>
            </a:pPr>
            <a:r>
              <a:rPr sz="1400" b="0" i="0">
                <a:solidFill>
                  <a:srgbClr val="1A1A1A"/>
                </a:solidFill>
                <a:latin typeface="Calibri"/>
              </a:rPr>
              <a:t>–  Where the effort goes: calibration takes an experienced analyst days to weeks (their own documentation says so)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>
                <a:solidFill>
                  <a:srgbClr val="1A1A1A"/>
                </a:solidFill>
                <a:latin typeface="Calibri"/>
              </a:rPr>
              <a:t>3. LLM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87552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700"/>
              </a:lnSpc>
              <a:spcAft>
                <a:spcPts val="0"/>
              </a:spcAft>
            </a:pPr>
            <a:r>
              <a:rPr sz="1250" b="0" i="0">
                <a:solidFill>
                  <a:srgbClr val="5E5E5E"/>
                </a:solidFill>
                <a:latin typeface="Calibri"/>
              </a:rPr>
              <a:t>Written toward the problem, not as a general survey.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60704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60020" indent="-160020">
              <a:lnSpc>
                <a:spcPts val="2100"/>
              </a:lnSpc>
              <a:spcAft>
                <a:spcPts val="1100"/>
              </a:spcAft>
              <a:buNone/>
            </a:pPr>
            <a:r>
              <a:rPr sz="1500" b="0" i="0">
                <a:solidFill>
                  <a:srgbClr val="1A1A1A"/>
                </a:solidFill>
                <a:latin typeface="Calibri"/>
              </a:rPr>
              <a:t>–  What makes an agent different from a prompt: tool use, iteration, feedback from execution</a:t>
            </a:r>
          </a:p>
          <a:p>
            <a:pPr marL="160020" indent="-160020">
              <a:lnSpc>
                <a:spcPts val="2100"/>
              </a:lnSpc>
              <a:spcAft>
                <a:spcPts val="1100"/>
              </a:spcAft>
              <a:buNone/>
            </a:pPr>
            <a:r>
              <a:rPr sz="1500" b="1" i="0">
                <a:solidFill>
                  <a:srgbClr val="1A1A1A"/>
                </a:solidFill>
                <a:latin typeface="Calibri"/>
              </a:rPr>
              <a:t>–  Capabilities that matter here: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 reading unstructured documentation, applying written heuristics, proposing and revising under numeric feedback, explaining its reasoning</a:t>
            </a:r>
          </a:p>
          <a:p>
            <a:pPr marL="160020" indent="-160020">
              <a:lnSpc>
                <a:spcPts val="2100"/>
              </a:lnSpc>
              <a:spcAft>
                <a:spcPts val="1100"/>
              </a:spcAft>
              <a:buNone/>
            </a:pPr>
            <a:r>
              <a:rPr sz="1500" b="1" i="0">
                <a:solidFill>
                  <a:srgbClr val="1A1A1A"/>
                </a:solidFill>
                <a:latin typeface="Calibri"/>
              </a:rPr>
              <a:t>–  Limits that matter here: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 hallucination, no ground truth about physical reality, weak arithmetic, non-determinism, context limits</a:t>
            </a:r>
          </a:p>
          <a:p>
            <a:pPr marL="160020" indent="-160020">
              <a:lnSpc>
                <a:spcPts val="2100"/>
              </a:lnSpc>
              <a:spcAft>
                <a:spcPts val="1100"/>
              </a:spcAft>
              <a:buNone/>
            </a:pPr>
            <a:r>
              <a:rPr sz="1500" b="0" i="0">
                <a:solidFill>
                  <a:srgbClr val="1A1A1A"/>
                </a:solidFill>
                <a:latin typeface="Calibri"/>
              </a:rPr>
              <a:t>–  Model selection and cost</a:t>
            </a:r>
          </a:p>
          <a:p>
            <a:pPr marL="160020" indent="-160020">
              <a:lnSpc>
                <a:spcPts val="2100"/>
              </a:lnSpc>
              <a:spcAft>
                <a:spcPts val="1100"/>
              </a:spcAft>
              <a:buNone/>
            </a:pPr>
            <a:r>
              <a:rPr sz="1500" b="1" i="0">
                <a:solidFill>
                  <a:srgbClr val="1A1A1A"/>
                </a:solidFill>
                <a:latin typeface="Calibri"/>
              </a:rPr>
              <a:t>–  Which tasks suit an LLM and which are better as ordinary code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 — the analytical core. We develop it here and apply it in chapter 5.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>
                <a:solidFill>
                  <a:srgbClr val="1A1A1A"/>
                </a:solidFill>
                <a:latin typeface="Calibri"/>
              </a:rPr>
              <a:t>Keeping chapter 3 concrete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87552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700"/>
              </a:lnSpc>
              <a:spcAft>
                <a:spcPts val="0"/>
              </a:spcAft>
            </a:pPr>
            <a:r>
              <a:rPr sz="1250" b="0" i="0">
                <a:solidFill>
                  <a:srgbClr val="5E5E5E"/>
                </a:solidFill>
                <a:latin typeface="Calibri"/>
              </a:rPr>
              <a:t>The risk is writing a generic explainer on LLMs. Every claim anchored to GGM.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60704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800"/>
              </a:lnSpc>
              <a:spcBef>
                <a:spcPts val="800"/>
              </a:spcBef>
              <a:spcAft>
                <a:spcPts val="300"/>
              </a:spcAft>
            </a:pPr>
            <a:r>
              <a:rPr sz="1600" b="1" i="0">
                <a:solidFill>
                  <a:srgbClr val="1A1A1A"/>
                </a:solidFill>
                <a:latin typeface="Calibri"/>
              </a:rPr>
              <a:t>Context budget as a real design constraint</a:t>
            </a:r>
          </a:p>
          <a:p>
            <a:pPr>
              <a:lnSpc>
                <a:spcPts val="1800"/>
              </a:lnSpc>
              <a:spcAft>
                <a:spcPts val="600"/>
              </a:spcAft>
            </a:pPr>
            <a:r>
              <a:rPr sz="1350" b="0" i="0">
                <a:solidFill>
                  <a:srgbClr val="1A1A1A"/>
                </a:solidFill>
                <a:latin typeface="Calibri"/>
              </a:rPr>
              <a:t>GGM produces results across ~109 consumption nodes, ~93 production nodes, 9 years and 3 seasons. That does not fit in a context window. So what gets summarised, and by what?</a:t>
            </a:r>
          </a:p>
          <a:p>
            <a:pPr>
              <a:lnSpc>
                <a:spcPts val="1800"/>
              </a:lnSpc>
              <a:spcBef>
                <a:spcPts val="800"/>
              </a:spcBef>
              <a:spcAft>
                <a:spcPts val="300"/>
              </a:spcAft>
            </a:pPr>
            <a:r>
              <a:rPr sz="1600" b="1" i="0">
                <a:solidFill>
                  <a:srgbClr val="1A1A1A"/>
                </a:solidFill>
                <a:latin typeface="Calibri"/>
              </a:rPr>
              <a:t>Cost tied to the workflow</a:t>
            </a:r>
          </a:p>
          <a:p>
            <a:pPr>
              <a:lnSpc>
                <a:spcPts val="1800"/>
              </a:lnSpc>
              <a:spcAft>
                <a:spcPts val="600"/>
              </a:spcAft>
            </a:pPr>
            <a:r>
              <a:rPr sz="1350" b="0" i="0">
                <a:solidFill>
                  <a:srgbClr val="1A1A1A"/>
                </a:solidFill>
                <a:latin typeface="Calibri"/>
              </a:rPr>
              <a:t>Calibration is iterative. If it takes N agent iterations, what does that cost against days of analyst time? That comparison is our premise, in numbers.</a:t>
            </a:r>
          </a:p>
          <a:p>
            <a:pPr>
              <a:lnSpc>
                <a:spcPts val="1800"/>
              </a:lnSpc>
              <a:spcBef>
                <a:spcPts val="800"/>
              </a:spcBef>
              <a:spcAft>
                <a:spcPts val="300"/>
              </a:spcAft>
            </a:pPr>
            <a:r>
              <a:rPr sz="1600" b="1" i="0">
                <a:solidFill>
                  <a:srgbClr val="1A1A1A"/>
                </a:solidFill>
                <a:latin typeface="Calibri"/>
              </a:rPr>
              <a:t>Model tiering as a finding</a:t>
            </a:r>
          </a:p>
          <a:p>
            <a:pPr>
              <a:lnSpc>
                <a:spcPts val="1800"/>
              </a:lnSpc>
              <a:spcAft>
                <a:spcPts val="600"/>
              </a:spcAft>
            </a:pPr>
            <a:r>
              <a:rPr sz="1350" b="0" i="0">
                <a:solidFill>
                  <a:srgbClr val="1A1A1A"/>
                </a:solidFill>
                <a:latin typeface="Calibri"/>
              </a:rPr>
              <a:t>Structural validation, diagnostic reasoning and prose generation differ hugely in difficulty and cost. Arguing for different models at different stages is more useful than benchmarking models against each other.</a:t>
            </a:r>
          </a:p>
          <a:p>
            <a:pPr>
              <a:lnSpc>
                <a:spcPts val="1800"/>
              </a:lnSpc>
              <a:spcBef>
                <a:spcPts val="800"/>
              </a:spcBef>
              <a:spcAft>
                <a:spcPts val="300"/>
              </a:spcAft>
            </a:pPr>
            <a:r>
              <a:rPr sz="1600" b="1" i="0">
                <a:solidFill>
                  <a:srgbClr val="1A1A1A"/>
                </a:solidFill>
                <a:latin typeface="Calibri"/>
              </a:rPr>
              <a:t>Determinism and reproducibility</a:t>
            </a:r>
          </a:p>
          <a:p>
            <a:pPr>
              <a:lnSpc>
                <a:spcPts val="1800"/>
              </a:lnSpc>
              <a:spcAft>
                <a:spcPts val="600"/>
              </a:spcAft>
            </a:pPr>
            <a:r>
              <a:rPr sz="1350" b="0" i="0">
                <a:solidFill>
                  <a:srgbClr val="1A1A1A"/>
                </a:solidFill>
                <a:latin typeface="Calibri"/>
              </a:rPr>
              <a:t>A thesis result has to be reproducible; an LLM in the loop is not. How do you make agent-assisted calibration reproducible enough to publish?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>
                <a:solidFill>
                  <a:srgbClr val="1A1A1A"/>
                </a:solidFill>
                <a:latin typeface="Calibri"/>
              </a:rPr>
              <a:t>5. Task suitability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87552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700"/>
              </a:lnSpc>
              <a:spcAft>
                <a:spcPts val="0"/>
              </a:spcAft>
            </a:pPr>
            <a:r>
              <a:rPr sz="1250" b="0" i="0">
                <a:solidFill>
                  <a:srgbClr val="5E5E5E"/>
                </a:solidFill>
                <a:latin typeface="Calibri"/>
              </a:rPr>
              <a:t>The core contribution.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7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Take the workflow from chapter 2, break it into tasks, and classify each one against the criteria from chapter 3.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286000"/>
            <a:ext cx="1042416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60020" indent="-160020">
              <a:lnSpc>
                <a:spcPts val="2000"/>
              </a:lnSpc>
              <a:spcAft>
                <a:spcPts val="800"/>
              </a:spcAft>
              <a:buNone/>
            </a:pPr>
            <a:r>
              <a:rPr sz="1450" b="1" i="0">
                <a:solidFill>
                  <a:srgbClr val="1A1A1A"/>
                </a:solidFill>
                <a:latin typeface="Calibri"/>
              </a:rPr>
              <a:t>–  Determinism</a:t>
            </a:r>
            <a:r>
              <a:rPr sz="1450" b="0" i="0">
                <a:solidFill>
                  <a:srgbClr val="1A1A1A"/>
                </a:solidFill>
                <a:latin typeface="Calibri"/>
              </a:rPr>
              <a:t>  —  is there one correct answer, checkable by rule?</a:t>
            </a:r>
          </a:p>
          <a:p>
            <a:pPr marL="160020" indent="-160020">
              <a:lnSpc>
                <a:spcPts val="2000"/>
              </a:lnSpc>
              <a:spcAft>
                <a:spcPts val="800"/>
              </a:spcAft>
              <a:buNone/>
            </a:pPr>
            <a:r>
              <a:rPr sz="1450" b="1" i="0">
                <a:solidFill>
                  <a:srgbClr val="1A1A1A"/>
                </a:solidFill>
                <a:latin typeface="Calibri"/>
              </a:rPr>
              <a:t>–  Context</a:t>
            </a:r>
            <a:r>
              <a:rPr sz="1450" b="0" i="0">
                <a:solidFill>
                  <a:srgbClr val="1A1A1A"/>
                </a:solidFill>
                <a:latin typeface="Calibri"/>
              </a:rPr>
              <a:t>  —  structured data, or does it need documentation and intent?</a:t>
            </a:r>
          </a:p>
          <a:p>
            <a:pPr marL="160020" indent="-160020">
              <a:lnSpc>
                <a:spcPts val="2000"/>
              </a:lnSpc>
              <a:spcAft>
                <a:spcPts val="800"/>
              </a:spcAft>
              <a:buNone/>
            </a:pPr>
            <a:r>
              <a:rPr sz="1450" b="1" i="0">
                <a:solidFill>
                  <a:srgbClr val="1A1A1A"/>
                </a:solidFill>
                <a:latin typeface="Calibri"/>
              </a:rPr>
              <a:t>–  Failure visibility</a:t>
            </a:r>
            <a:r>
              <a:rPr sz="1450" b="0" i="0">
                <a:solidFill>
                  <a:srgbClr val="1A1A1A"/>
                </a:solidFill>
                <a:latin typeface="Calibri"/>
              </a:rPr>
              <a:t>  —  does a mistake announce itself, or look plausible?</a:t>
            </a:r>
          </a:p>
          <a:p>
            <a:pPr marL="160020" indent="-160020">
              <a:lnSpc>
                <a:spcPts val="2000"/>
              </a:lnSpc>
              <a:spcAft>
                <a:spcPts val="800"/>
              </a:spcAft>
              <a:buNone/>
            </a:pPr>
            <a:r>
              <a:rPr sz="1450" b="1" i="0">
                <a:solidFill>
                  <a:srgbClr val="1A1A1A"/>
                </a:solidFill>
                <a:latin typeface="Calibri"/>
              </a:rPr>
              <a:t>–  Reversibility</a:t>
            </a:r>
            <a:r>
              <a:rPr sz="1450" b="0" i="0">
                <a:solidFill>
                  <a:srgbClr val="1A1A1A"/>
                </a:solidFill>
                <a:latin typeface="Calibri"/>
              </a:rPr>
              <a:t>  —  cheap to catch and redo, or does it contaminate results?</a:t>
            </a:r>
          </a:p>
          <a:p>
            <a:pPr marL="160020" indent="-160020">
              <a:lnSpc>
                <a:spcPts val="2000"/>
              </a:lnSpc>
              <a:spcAft>
                <a:spcPts val="800"/>
              </a:spcAft>
              <a:buNone/>
            </a:pPr>
            <a:r>
              <a:rPr sz="1450" b="1" i="0">
                <a:solidFill>
                  <a:srgbClr val="1A1A1A"/>
                </a:solidFill>
                <a:latin typeface="Calibri"/>
              </a:rPr>
              <a:t>–  Verifiability</a:t>
            </a:r>
            <a:r>
              <a:rPr sz="1450" b="0" i="0">
                <a:solidFill>
                  <a:srgbClr val="1A1A1A"/>
                </a:solidFill>
                <a:latin typeface="Calibri"/>
              </a:rPr>
              <a:t>  —  checkable automatically, or only by an expert?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709160"/>
            <a:ext cx="106070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700"/>
              </a:spcAft>
            </a:pPr>
            <a:r>
              <a:rPr sz="1450" b="1" i="0">
                <a:solidFill>
                  <a:srgbClr val="1A1A1A"/>
                </a:solidFill>
                <a:latin typeface="Calibri"/>
              </a:rPr>
              <a:t>Deterministic, structured, loud failure</a:t>
            </a:r>
            <a:r>
              <a:rPr sz="1450" b="0" i="0">
                <a:solidFill>
                  <a:srgbClr val="1A1A1A"/>
                </a:solidFill>
                <a:latin typeface="Calibri"/>
              </a:rPr>
              <a:t>  belongs in ordinary code. </a:t>
            </a:r>
            <a:r>
              <a:rPr sz="1450" b="1" i="0">
                <a:solidFill>
                  <a:srgbClr val="1A1A1A"/>
                </a:solidFill>
                <a:latin typeface="Calibri"/>
              </a:rPr>
              <a:t>Judgment-based, unstructured, quiet failure</a:t>
            </a:r>
            <a:r>
              <a:rPr sz="1450" b="0" i="0">
                <a:solidFill>
                  <a:srgbClr val="1A1A1A"/>
                </a:solidFill>
                <a:latin typeface="Calibri"/>
              </a:rPr>
              <a:t>  is where an agent may help — and exactly where it needs a human gate. That tension is the interesting finding, and we want to state it as 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>
                <a:solidFill>
                  <a:srgbClr val="1A1A1A"/>
                </a:solidFill>
                <a:latin typeface="Calibri"/>
              </a:rPr>
              <a:t>6–9. The closing chapters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06070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900"/>
              </a:lnSpc>
              <a:spcBef>
                <a:spcPts val="800"/>
              </a:spcBef>
              <a:spcAft>
                <a:spcPts val="300"/>
              </a:spcAft>
            </a:pPr>
            <a:r>
              <a:rPr sz="1600" b="1" i="0">
                <a:solidFill>
                  <a:srgbClr val="1A1A1A"/>
                </a:solidFill>
                <a:latin typeface="Calibri"/>
              </a:rPr>
              <a:t>6.  Design sketch for the master's thesis</a:t>
            </a:r>
          </a:p>
          <a:p>
            <a:pPr>
              <a:lnSpc>
                <a:spcPts val="19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What a system implied by chapter 5 would look like — component responsibilities, where humans sit in the loop, what gets verified and how. A sketch to establish feasibility, not a specification.</a:t>
            </a:r>
          </a:p>
          <a:p>
            <a:pPr>
              <a:lnSpc>
                <a:spcPts val="1900"/>
              </a:lnSpc>
              <a:spcBef>
                <a:spcPts val="800"/>
              </a:spcBef>
              <a:spcAft>
                <a:spcPts val="300"/>
              </a:spcAft>
            </a:pPr>
            <a:r>
              <a:rPr sz="1600" b="1" i="0">
                <a:solidFill>
                  <a:srgbClr val="1A1A1A"/>
                </a:solidFill>
                <a:latin typeface="Calibri"/>
              </a:rPr>
              <a:t>7.  Proof of concept  (if in scope)</a:t>
            </a:r>
          </a:p>
          <a:p>
            <a:pPr>
              <a:lnSpc>
                <a:spcPts val="19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Small and targeted — see next slide.</a:t>
            </a:r>
          </a:p>
          <a:p>
            <a:pPr>
              <a:lnSpc>
                <a:spcPts val="1900"/>
              </a:lnSpc>
              <a:spcBef>
                <a:spcPts val="800"/>
              </a:spcBef>
              <a:spcAft>
                <a:spcPts val="300"/>
              </a:spcAft>
            </a:pPr>
            <a:r>
              <a:rPr sz="1600" b="1" i="0">
                <a:solidFill>
                  <a:srgbClr val="1A1A1A"/>
                </a:solidFill>
                <a:latin typeface="Calibri"/>
              </a:rPr>
              <a:t>8.  Discussion</a:t>
            </a:r>
          </a:p>
          <a:p>
            <a:pPr>
              <a:lnSpc>
                <a:spcPts val="19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Risks, limitations, and what the analysis does not settle. Including what should not be automated and why — a feature of the argument, not a hedge.</a:t>
            </a:r>
          </a:p>
          <a:p>
            <a:pPr>
              <a:lnSpc>
                <a:spcPts val="1900"/>
              </a:lnSpc>
              <a:spcBef>
                <a:spcPts val="800"/>
              </a:spcBef>
              <a:spcAft>
                <a:spcPts val="300"/>
              </a:spcAft>
            </a:pPr>
            <a:r>
              <a:rPr sz="1600" b="1" i="0">
                <a:solidFill>
                  <a:srgbClr val="1A1A1A"/>
                </a:solidFill>
                <a:latin typeface="Calibri"/>
              </a:rPr>
              <a:t>9.  Conclusion and plan for the master's</a:t>
            </a:r>
          </a:p>
          <a:p>
            <a:pPr>
              <a:lnSpc>
                <a:spcPts val="19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What was established, what stays open, and what spring should build. Partly a project plan, and you'll read it as one.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>
                <a:solidFill>
                  <a:srgbClr val="1A1A1A"/>
                </a:solidFill>
                <a:latin typeface="Calibri"/>
              </a:rPr>
              <a:t>If we do a proof of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87552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700"/>
              </a:lnSpc>
              <a:spcAft>
                <a:spcPts val="0"/>
              </a:spcAft>
            </a:pPr>
            <a:r>
              <a:rPr sz="1250" b="0" i="0">
                <a:solidFill>
                  <a:srgbClr val="5E5E5E"/>
                </a:solidFill>
                <a:latin typeface="Calibri"/>
              </a:rPr>
              <a:t>Our suggestion — diagnostic interpretation, not workbook generation.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60704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900"/>
              </a:lnSpc>
              <a:spcBef>
                <a:spcPts val="800"/>
              </a:spcBef>
              <a:spcAft>
                <a:spcPts val="300"/>
              </a:spcAft>
            </a:pPr>
            <a:r>
              <a:rPr sz="1600" b="1" i="0">
                <a:solidFill>
                  <a:srgbClr val="1A1A1A"/>
                </a:solidFill>
                <a:latin typeface="Calibri"/>
              </a:rPr>
              <a:t>Why diagnostic reasoning is the right target</a:t>
            </a:r>
          </a:p>
          <a:p>
            <a:pPr marL="160020" indent="-160020">
              <a:lnSpc>
                <a:spcPts val="1900"/>
              </a:lnSpc>
              <a:spcAft>
                <a:spcPts val="700"/>
              </a:spcAft>
              <a:buNone/>
            </a:pPr>
            <a:r>
              <a:rPr sz="1400" b="0" i="0">
                <a:solidFill>
                  <a:srgbClr val="1A1A1A"/>
                </a:solidFill>
                <a:latin typeface="Calibri"/>
              </a:rPr>
              <a:t>–  It's where an LLM is least replaceable by ordinary code, so it tests the real hypothesis</a:t>
            </a:r>
          </a:p>
          <a:p>
            <a:pPr marL="160020" indent="-160020">
              <a:lnSpc>
                <a:spcPts val="1900"/>
              </a:lnSpc>
              <a:spcAft>
                <a:spcPts val="700"/>
              </a:spcAft>
              <a:buNone/>
            </a:pPr>
            <a:r>
              <a:rPr sz="1400" b="0" i="0">
                <a:solidFill>
                  <a:srgbClr val="1A1A1A"/>
                </a:solidFill>
                <a:latin typeface="Calibri"/>
              </a:rPr>
              <a:t>–  Ground truth exists in the documentation — their own worked examples of how to diagnose a deviation — so success is assessable rather than just subjective</a:t>
            </a:r>
          </a:p>
          <a:p>
            <a:pPr marL="160020" indent="-160020">
              <a:lnSpc>
                <a:spcPts val="1900"/>
              </a:lnSpc>
              <a:spcAft>
                <a:spcPts val="700"/>
              </a:spcAft>
              <a:buNone/>
            </a:pPr>
            <a:r>
              <a:rPr sz="1400" b="0" i="0">
                <a:solidFill>
                  <a:srgbClr val="1A1A1A"/>
                </a:solidFill>
                <a:latin typeface="Calibri"/>
              </a:rPr>
              <a:t>–  It doesn't need a full calibrated dataset, which matters given we don't have the data yet</a:t>
            </a:r>
          </a:p>
          <a:p>
            <a:pPr marL="160020" indent="-160020">
              <a:lnSpc>
                <a:spcPts val="1900"/>
              </a:lnSpc>
              <a:spcAft>
                <a:spcPts val="700"/>
              </a:spcAft>
              <a:buNone/>
            </a:pPr>
            <a:r>
              <a:rPr sz="1400" b="0" i="0">
                <a:solidFill>
                  <a:srgbClr val="1A1A1A"/>
                </a:solidFill>
                <a:latin typeface="Calibri"/>
              </a:rPr>
              <a:t>–  It's genuinely small: one prompt design, a handful of test cases, an evaluation rubric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343400"/>
            <a:ext cx="106070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900"/>
              </a:lnSpc>
              <a:spcBef>
                <a:spcPts val="800"/>
              </a:spcBef>
              <a:spcAft>
                <a:spcPts val="300"/>
              </a:spcAft>
            </a:pPr>
            <a:r>
              <a:rPr sz="1600" b="1" i="0">
                <a:solidFill>
                  <a:srgbClr val="1A1A1A"/>
                </a:solidFill>
                <a:latin typeface="Calibri"/>
              </a:rPr>
              <a:t>What we'd avoid</a:t>
            </a:r>
          </a:p>
          <a:p>
            <a:pPr>
              <a:lnSpc>
                <a:spcPts val="19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Generating a full valid workbook. Mostly schema plumbing, high effort, and it tests the part of the problem that isn't the interesting claim.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>
                <a:solidFill>
                  <a:srgbClr val="1A1A1A"/>
                </a:solidFill>
                <a:latin typeface="Calibri"/>
              </a:rPr>
              <a:t>What we'd like your view 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45920"/>
            <a:ext cx="1060704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60020" indent="-160020">
              <a:lnSpc>
                <a:spcPts val="2300"/>
              </a:lnSpc>
              <a:spcAft>
                <a:spcPts val="1400"/>
              </a:spcAft>
              <a:buNone/>
            </a:pPr>
            <a:r>
              <a:rPr sz="1550" b="0" i="0">
                <a:solidFill>
                  <a:srgbClr val="1A1A1A"/>
                </a:solidFill>
                <a:latin typeface="Calibri"/>
              </a:rPr>
              <a:t>–  Research question wording, and how narrow to go</a:t>
            </a:r>
          </a:p>
          <a:p>
            <a:pPr marL="160020" indent="-160020">
              <a:lnSpc>
                <a:spcPts val="2300"/>
              </a:lnSpc>
              <a:spcAft>
                <a:spcPts val="1400"/>
              </a:spcAft>
              <a:buNone/>
            </a:pPr>
            <a:r>
              <a:rPr sz="1550" b="0" i="0">
                <a:solidFill>
                  <a:srgbClr val="1A1A1A"/>
                </a:solidFill>
                <a:latin typeface="Calibri"/>
              </a:rPr>
              <a:t>–  Whether a proof of concept is in scope, and whether diagnostic reasoning is the right target</a:t>
            </a:r>
          </a:p>
          <a:p>
            <a:pPr marL="160020" indent="-160020">
              <a:lnSpc>
                <a:spcPts val="2300"/>
              </a:lnSpc>
              <a:spcAft>
                <a:spcPts val="1400"/>
              </a:spcAft>
              <a:buNone/>
            </a:pPr>
            <a:r>
              <a:rPr sz="1550" b="0" i="0">
                <a:solidFill>
                  <a:srgbClr val="1A1A1A"/>
                </a:solidFill>
                <a:latin typeface="Calibri"/>
              </a:rPr>
              <a:t>–  How much weight related work should carry relative to the analysis</a:t>
            </a:r>
          </a:p>
          <a:p>
            <a:pPr marL="160020" indent="-160020">
              <a:lnSpc>
                <a:spcPts val="2300"/>
              </a:lnSpc>
              <a:spcAft>
                <a:spcPts val="1400"/>
              </a:spcAft>
              <a:buNone/>
            </a:pPr>
            <a:r>
              <a:rPr sz="1550" b="0" i="0">
                <a:solidFill>
                  <a:srgbClr val="1A1A1A"/>
                </a:solidFill>
                <a:latin typeface="Calibri"/>
              </a:rPr>
              <a:t>–  Whether the master's design sketch belongs in this thesis, or is better deferred</a:t>
            </a:r>
          </a:p>
          <a:p>
            <a:pPr marL="160020" indent="-160020">
              <a:lnSpc>
                <a:spcPts val="2300"/>
              </a:lnSpc>
              <a:spcAft>
                <a:spcPts val="1400"/>
              </a:spcAft>
              <a:buNone/>
            </a:pPr>
            <a:r>
              <a:rPr sz="1550" b="0" i="0">
                <a:solidFill>
                  <a:srgbClr val="1A1A1A"/>
                </a:solidFill>
                <a:latin typeface="Calibri"/>
              </a:rPr>
              <a:t>–  Whether we can cite the workflow discussions with you as a source — and if so, how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623560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700"/>
              </a:lnSpc>
              <a:spcAft>
                <a:spcPts val="0"/>
              </a:spcAft>
            </a:pPr>
            <a:r>
              <a:rPr sz="1250" b="0" i="0">
                <a:solidFill>
                  <a:srgbClr val="5E5E5E"/>
                </a:solidFill>
                <a:latin typeface="Calibri"/>
              </a:rPr>
              <a:t>We've started a more detailed outline underneath this. Rather than asking “what should go in chapter 2”, we'd rather write it up and bring it to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39 — project thesis structure (detailed)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