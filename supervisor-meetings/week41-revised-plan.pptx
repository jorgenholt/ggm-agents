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5673"/>
                </a:solidFill>
                <a:latin typeface="Calibri"/>
              </a:rPr>
              <a:t>Revised plan: hand-in 13 December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770"/>
                </a:solidFill>
                <a:latin typeface="Calibri"/>
              </a:rPr>
              <a:t>Two weeks per chapter, overlapping by one week. Chapter 5 is the core, so it gets three.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95728"/>
            <a:ext cx="10908792" cy="38404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163824"/>
            <a:ext cx="10908792" cy="38404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3931920"/>
            <a:ext cx="10908792" cy="38404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4700016"/>
            <a:ext cx="10908792" cy="38404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084064"/>
            <a:ext cx="10908792" cy="868680"/>
          </a:xfrm>
          <a:prstGeom prst="rect">
            <a:avLst/>
          </a:prstGeom>
          <a:solidFill>
            <a:srgbClr val="FB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36192"/>
            <a:ext cx="7173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2A30"/>
                </a:solidFill>
                <a:latin typeface="Calibri"/>
              </a:rPr>
              <a:t>W40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64792"/>
            <a:ext cx="7173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B6770"/>
                </a:solidFill>
                <a:latin typeface="Calibri"/>
              </a:rPr>
              <a:t>28 Sep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4988" y="1536192"/>
            <a:ext cx="7173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2A30"/>
                </a:solidFill>
                <a:latin typeface="Calibri"/>
              </a:rPr>
              <a:t>W41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988" y="1764792"/>
            <a:ext cx="7173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B6770"/>
                </a:solidFill>
                <a:latin typeface="Calibri"/>
              </a:rPr>
              <a:t>5 Oct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2376" y="1536192"/>
            <a:ext cx="7173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2A30"/>
                </a:solidFill>
                <a:latin typeface="Calibri"/>
              </a:rPr>
              <a:t>W42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2376" y="1764792"/>
            <a:ext cx="7173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B6770"/>
                </a:solidFill>
                <a:latin typeface="Calibri"/>
              </a:rPr>
              <a:t>12 Oct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9765" y="1536192"/>
            <a:ext cx="7173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2A30"/>
                </a:solidFill>
                <a:latin typeface="Calibri"/>
              </a:rPr>
              <a:t>W43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9765" y="1764792"/>
            <a:ext cx="7173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B6770"/>
                </a:solidFill>
                <a:latin typeface="Calibri"/>
              </a:rPr>
              <a:t>19 Oct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7153" y="1536192"/>
            <a:ext cx="7173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2A30"/>
                </a:solidFill>
                <a:latin typeface="Calibri"/>
              </a:rPr>
              <a:t>W44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7153" y="1764792"/>
            <a:ext cx="7173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B6770"/>
                </a:solidFill>
                <a:latin typeface="Calibri"/>
              </a:rPr>
              <a:t>26 Oct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4541" y="1536192"/>
            <a:ext cx="7173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2A30"/>
                </a:solidFill>
                <a:latin typeface="Calibri"/>
              </a:rPr>
              <a:t>W45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4541" y="1764792"/>
            <a:ext cx="7173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B6770"/>
                </a:solidFill>
                <a:latin typeface="Calibri"/>
              </a:rPr>
              <a:t>2 Nov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1930" y="1536192"/>
            <a:ext cx="7173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2A30"/>
                </a:solidFill>
                <a:latin typeface="Calibri"/>
              </a:rPr>
              <a:t>W46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1930" y="1764792"/>
            <a:ext cx="7173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B6770"/>
                </a:solidFill>
                <a:latin typeface="Calibri"/>
              </a:rPr>
              <a:t>9 Nov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9318" y="1536192"/>
            <a:ext cx="7173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2A30"/>
                </a:solidFill>
                <a:latin typeface="Calibri"/>
              </a:rPr>
              <a:t>W47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79318" y="1764792"/>
            <a:ext cx="7173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B6770"/>
                </a:solidFill>
                <a:latin typeface="Calibri"/>
              </a:rPr>
              <a:t>16 Nov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6706" y="1536192"/>
            <a:ext cx="7173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2A30"/>
                </a:solidFill>
                <a:latin typeface="Calibri"/>
              </a:rPr>
              <a:t>W48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6706" y="1764792"/>
            <a:ext cx="7173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B6770"/>
                </a:solidFill>
                <a:latin typeface="Calibri"/>
              </a:rPr>
              <a:t>23 Nov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14095" y="1536192"/>
            <a:ext cx="7173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2A30"/>
                </a:solidFill>
                <a:latin typeface="Calibri"/>
              </a:rPr>
              <a:t>W49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14095" y="1764792"/>
            <a:ext cx="7173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B6770"/>
                </a:solidFill>
                <a:latin typeface="Calibri"/>
              </a:rPr>
              <a:t>30 Nov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1483" y="1536192"/>
            <a:ext cx="7173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2A30"/>
                </a:solidFill>
                <a:latin typeface="Calibri"/>
              </a:rPr>
              <a:t>W50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1483" y="1764792"/>
            <a:ext cx="7173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B6770"/>
                </a:solidFill>
                <a:latin typeface="Calibri"/>
              </a:rPr>
              <a:t>7 Dec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3028" y="2011680"/>
            <a:ext cx="9144" cy="3941064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0416" y="2011680"/>
            <a:ext cx="9144" cy="3941064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87804" y="2011680"/>
            <a:ext cx="9144" cy="3941064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05193" y="2011680"/>
            <a:ext cx="9144" cy="3941064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22581" y="2011680"/>
            <a:ext cx="9144" cy="3941064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39969" y="2011680"/>
            <a:ext cx="9144" cy="3941064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7358" y="2011680"/>
            <a:ext cx="9144" cy="3941064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74746" y="2011680"/>
            <a:ext cx="9144" cy="3941064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92134" y="2011680"/>
            <a:ext cx="9144" cy="3941064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09523" y="2011680"/>
            <a:ext cx="9144" cy="3941064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826911" y="2011680"/>
            <a:ext cx="9144" cy="3941064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544300" y="2011680"/>
            <a:ext cx="9144" cy="3941064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2011680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F2A30"/>
                </a:solidFill>
                <a:latin typeface="Calibri"/>
              </a:rPr>
              <a:t>Scope and outline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21608" y="2112264"/>
            <a:ext cx="589372" cy="182879"/>
          </a:xfrm>
          <a:prstGeom prst="roundRect">
            <a:avLst/>
          </a:prstGeom>
          <a:solidFill>
            <a:srgbClr val="B8C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239572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F2A30"/>
                </a:solidFill>
                <a:latin typeface="Calibri"/>
              </a:rPr>
              <a:t>Ch. 2: literature review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38996" y="2496312"/>
            <a:ext cx="1306760" cy="182879"/>
          </a:xfrm>
          <a:prstGeom prst="roundRect">
            <a:avLst/>
          </a:prstGeom>
          <a:solidFill>
            <a:srgbClr val="1F5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2779776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F2A30"/>
                </a:solidFill>
                <a:latin typeface="Calibri"/>
              </a:rPr>
              <a:t>Ch. 3: the Global Gas Model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56384" y="2880360"/>
            <a:ext cx="1306760" cy="182879"/>
          </a:xfrm>
          <a:prstGeom prst="roundRect">
            <a:avLst/>
          </a:prstGeom>
          <a:solidFill>
            <a:srgbClr val="1F5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3163824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F2A30"/>
                </a:solidFill>
                <a:latin typeface="Calibri"/>
              </a:rPr>
              <a:t>Ch. 4: LLM agents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73773" y="3264408"/>
            <a:ext cx="1306760" cy="182879"/>
          </a:xfrm>
          <a:prstGeom prst="roundRect">
            <a:avLst/>
          </a:prstGeom>
          <a:solidFill>
            <a:srgbClr val="1F5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3547872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F2A30"/>
                </a:solidFill>
                <a:latin typeface="Calibri"/>
              </a:rPr>
              <a:t>Ch. 5: where AI fits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08549" y="3648456"/>
            <a:ext cx="2024149" cy="182879"/>
          </a:xfrm>
          <a:prstGeom prst="roundRect">
            <a:avLst/>
          </a:prstGeom>
          <a:solidFill>
            <a:srgbClr val="1F5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3931920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F2A30"/>
                </a:solidFill>
                <a:latin typeface="Calibri"/>
              </a:rPr>
              <a:t>Ch. 6–8: closing chapters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43326" y="4032504"/>
            <a:ext cx="1306760" cy="182879"/>
          </a:xfrm>
          <a:prstGeom prst="roundRect">
            <a:avLst/>
          </a:prstGeom>
          <a:solidFill>
            <a:srgbClr val="1F5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" y="431596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F2A30"/>
                </a:solidFill>
                <a:latin typeface="Calibri"/>
              </a:rPr>
              <a:t>Introduction and abstract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60714" y="4416552"/>
            <a:ext cx="589372" cy="182879"/>
          </a:xfrm>
          <a:prstGeom prst="roundRect">
            <a:avLst/>
          </a:prstGeom>
          <a:solidFill>
            <a:srgbClr val="1F5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" y="4700016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F2A30"/>
                </a:solidFill>
                <a:latin typeface="Calibri"/>
              </a:rPr>
              <a:t>Supervisor feedback, revise, hand in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178103" y="4800600"/>
            <a:ext cx="1306760" cy="182879"/>
          </a:xfrm>
          <a:prstGeom prst="roundRect">
            <a:avLst/>
          </a:prstGeom>
          <a:solidFill>
            <a:srgbClr val="9FB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8" y="5084064"/>
            <a:ext cx="27889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9C5214"/>
                </a:solidFill>
                <a:latin typeface="Calibri"/>
              </a:rPr>
              <a:t>Milestones: drafted by end of week</a:t>
            </a:r>
          </a:p>
        </p:txBody>
      </p:sp>
      <p:sp>
        <p:nvSpPr>
          <p:cNvPr id="60" name="Diamond 59"/>
          <p:cNvSpPr/>
          <p:nvPr/>
        </p:nvSpPr>
        <p:spPr>
          <a:xfrm>
            <a:off x="3897422" y="5175504"/>
            <a:ext cx="237744" cy="237744"/>
          </a:xfrm>
          <a:prstGeom prst="diamond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20440" y="5468112"/>
            <a:ext cx="991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0"/>
                </a:solidFill>
                <a:latin typeface="Calibri"/>
              </a:rPr>
              <a:t>Outline</a:t>
            </a:r>
          </a:p>
        </p:txBody>
      </p:sp>
      <p:sp>
        <p:nvSpPr>
          <p:cNvPr id="62" name="Diamond 61"/>
          <p:cNvSpPr/>
          <p:nvPr/>
        </p:nvSpPr>
        <p:spPr>
          <a:xfrm>
            <a:off x="5332198" y="5175504"/>
            <a:ext cx="237744" cy="237744"/>
          </a:xfrm>
          <a:prstGeom prst="diamond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55216" y="5468112"/>
            <a:ext cx="991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0"/>
                </a:solidFill>
                <a:latin typeface="Calibri"/>
              </a:rPr>
              <a:t>Ch. 2</a:t>
            </a:r>
          </a:p>
        </p:txBody>
      </p:sp>
      <p:sp>
        <p:nvSpPr>
          <p:cNvPr id="64" name="Diamond 63"/>
          <p:cNvSpPr/>
          <p:nvPr/>
        </p:nvSpPr>
        <p:spPr>
          <a:xfrm>
            <a:off x="6049587" y="5175504"/>
            <a:ext cx="237744" cy="237744"/>
          </a:xfrm>
          <a:prstGeom prst="diamond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72605" y="5468112"/>
            <a:ext cx="991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0"/>
                </a:solidFill>
                <a:latin typeface="Calibri"/>
              </a:rPr>
              <a:t>Ch. 3</a:t>
            </a:r>
          </a:p>
        </p:txBody>
      </p:sp>
      <p:sp>
        <p:nvSpPr>
          <p:cNvPr id="66" name="Diamond 65"/>
          <p:cNvSpPr/>
          <p:nvPr/>
        </p:nvSpPr>
        <p:spPr>
          <a:xfrm>
            <a:off x="6766975" y="5175504"/>
            <a:ext cx="237744" cy="237744"/>
          </a:xfrm>
          <a:prstGeom prst="diamond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89993" y="5468112"/>
            <a:ext cx="991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0"/>
                </a:solidFill>
                <a:latin typeface="Calibri"/>
              </a:rPr>
              <a:t>Ch. 4</a:t>
            </a:r>
          </a:p>
        </p:txBody>
      </p:sp>
      <p:sp>
        <p:nvSpPr>
          <p:cNvPr id="68" name="Diamond 67"/>
          <p:cNvSpPr/>
          <p:nvPr/>
        </p:nvSpPr>
        <p:spPr>
          <a:xfrm>
            <a:off x="8919140" y="5175504"/>
            <a:ext cx="237744" cy="237744"/>
          </a:xfrm>
          <a:prstGeom prst="diamond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42158" y="5468112"/>
            <a:ext cx="991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A30"/>
                </a:solidFill>
                <a:latin typeface="Calibri"/>
              </a:rPr>
              <a:t>Ch. 5</a:t>
            </a:r>
          </a:p>
        </p:txBody>
      </p:sp>
      <p:sp>
        <p:nvSpPr>
          <p:cNvPr id="70" name="Diamond 69"/>
          <p:cNvSpPr/>
          <p:nvPr/>
        </p:nvSpPr>
        <p:spPr>
          <a:xfrm>
            <a:off x="9636529" y="5175504"/>
            <a:ext cx="237744" cy="237744"/>
          </a:xfrm>
          <a:prstGeom prst="diamond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59546" y="5468112"/>
            <a:ext cx="991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9C5214"/>
                </a:solidFill>
                <a:latin typeface="Calibri"/>
              </a:rPr>
              <a:t>Full draft, 29 Nov</a:t>
            </a:r>
          </a:p>
        </p:txBody>
      </p:sp>
      <p:sp>
        <p:nvSpPr>
          <p:cNvPr id="72" name="Diamond 71"/>
          <p:cNvSpPr/>
          <p:nvPr/>
        </p:nvSpPr>
        <p:spPr>
          <a:xfrm>
            <a:off x="11071305" y="5175504"/>
            <a:ext cx="237744" cy="237744"/>
          </a:xfrm>
          <a:prstGeom prst="diamond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94323" y="5468112"/>
            <a:ext cx="9917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9C5214"/>
                </a:solidFill>
                <a:latin typeface="Calibri"/>
              </a:rPr>
              <a:t>Hand-in, 13 Dec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Calibri"/>
              </a:rPr>
              <a:t>The introduction is written last, once we know what the thesis actually says. Two weeks are kept for feedback and revision.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