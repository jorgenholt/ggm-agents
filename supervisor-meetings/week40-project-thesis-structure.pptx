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idea to get across: the workflow isn't one thing, and AI fits some parts of it much better than others. This semester is about mapping that out broadly.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is the literature review, placed second as you suggested. We just aren't presenting it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is still in progress, so we keep it light today. Chapter 3 leans heavily on what we have already written up about the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follows the workflow step by step, and every step gets the same four questions. We keep it general so it holds for any GGM setup, and use short examples from the 2023 data as evidence. It ends with a figure that sums it up, whose format we haven't settled, and a job description for each agent, which is where next semester starts.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focus per week, nothing overlapping. The last week covers the closing chapters and the introduction, which comes last because it summarises the rest.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Project thesis: what we want to argue</a:t>
            </a:r>
          </a:p>
        </p:txBody>
      </p:sp>
      <p:sp>
        <p:nvSpPr>
          <p:cNvPr id="3" name="TextBox 2"/>
          <p:cNvSpPr txBox="1"/>
          <p:nvPr/>
        </p:nvSpPr>
        <p:spPr>
          <a:xfrm>
            <a:off x="640080" y="1024128"/>
            <a:ext cx="10911535" cy="457200"/>
          </a:xfrm>
          <a:prstGeom prst="rect">
            <a:avLst/>
          </a:prstGeom>
          <a:noFill/>
        </p:spPr>
        <p:txBody>
          <a:bodyPr wrap="square" lIns="0" rIns="0" tIns="0" bIns="0" anchor="t">
            <a:spAutoFit/>
          </a:bodyPr>
          <a:lstStyle/>
          <a:p>
            <a:pPr algn="l">
              <a:lnSpc>
                <a:spcPts val="1800"/>
              </a:lnSpc>
              <a:spcAft>
                <a:spcPts val="0"/>
              </a:spcAft>
            </a:pPr>
            <a:r>
              <a:rPr sz="1400" b="0" i="0">
                <a:solidFill>
                  <a:srgbClr val="5B6770"/>
                </a:solidFill>
                <a:latin typeface="Calibri"/>
              </a:rPr>
              <a:t>Jørgen Holt and Save Brautaset  ·  NTNU Industrial Economics  ·  autumn 2026</a:t>
            </a:r>
          </a:p>
        </p:txBody>
      </p:sp>
      <p:sp>
        <p:nvSpPr>
          <p:cNvPr id="4" name="TextBox 3"/>
          <p:cNvSpPr txBox="1"/>
          <p:nvPr/>
        </p:nvSpPr>
        <p:spPr>
          <a:xfrm>
            <a:off x="640080" y="1645920"/>
            <a:ext cx="10515600" cy="1600200"/>
          </a:xfrm>
          <a:prstGeom prst="rect">
            <a:avLst/>
          </a:prstGeom>
          <a:noFill/>
        </p:spPr>
        <p:txBody>
          <a:bodyPr wrap="square" lIns="0" rIns="0" tIns="0" bIns="0" anchor="t">
            <a:spAutoFit/>
          </a:bodyPr>
          <a:lstStyle/>
          <a:p>
            <a:pPr algn="l">
              <a:lnSpc>
                <a:spcPts val="2300"/>
              </a:lnSpc>
              <a:spcAft>
                <a:spcPts val="600"/>
              </a:spcAft>
            </a:pPr>
            <a:r>
              <a:rPr sz="1650" b="0" i="0">
                <a:solidFill>
                  <a:srgbClr val="1F2A30"/>
                </a:solidFill>
                <a:latin typeface="Calibri"/>
              </a:rPr>
              <a:t>Running the Global Gas Model takes a lot of expert effort. Our argument is that this effort is made up of very different kinds of tasks. Some are mechanical and should simply be ordinary code. Some need judgment over messy, unstructured information, and that is where an LLM agent could actually help. Some should not be automated at all, because when they go wrong the result still looks plausible.</a:t>
            </a:r>
          </a:p>
        </p:txBody>
      </p:sp>
      <p:sp>
        <p:nvSpPr>
          <p:cNvPr id="5" name="Rounded Rectangle 4"/>
          <p:cNvSpPr/>
          <p:nvPr/>
        </p:nvSpPr>
        <p:spPr>
          <a:xfrm>
            <a:off x="640080" y="3291840"/>
            <a:ext cx="3454298" cy="155448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3520440"/>
            <a:ext cx="182880" cy="18288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7" y="3447288"/>
            <a:ext cx="2631338" cy="320040"/>
          </a:xfrm>
          <a:prstGeom prst="rect">
            <a:avLst/>
          </a:prstGeom>
          <a:noFill/>
        </p:spPr>
        <p:txBody>
          <a:bodyPr wrap="square" lIns="0" rIns="0" tIns="0" bIns="0" anchor="t">
            <a:spAutoFit/>
          </a:bodyPr>
          <a:lstStyle/>
          <a:p>
            <a:pPr algn="l">
              <a:lnSpc>
                <a:spcPts val="1939"/>
              </a:lnSpc>
              <a:spcAft>
                <a:spcPts val="0"/>
              </a:spcAft>
            </a:pPr>
            <a:r>
              <a:rPr sz="1550" b="1" i="0">
                <a:solidFill>
                  <a:srgbClr val="1F5673"/>
                </a:solidFill>
                <a:latin typeface="Calibri"/>
              </a:rPr>
              <a:t>Ordinary code</a:t>
            </a:r>
          </a:p>
        </p:txBody>
      </p:sp>
      <p:sp>
        <p:nvSpPr>
          <p:cNvPr id="8" name="TextBox 7"/>
          <p:cNvSpPr txBox="1"/>
          <p:nvPr/>
        </p:nvSpPr>
        <p:spPr>
          <a:xfrm>
            <a:off x="914400" y="3904487"/>
            <a:ext cx="2905658" cy="822960"/>
          </a:xfrm>
          <a:prstGeom prst="rect">
            <a:avLst/>
          </a:prstGeom>
          <a:noFill/>
        </p:spPr>
        <p:txBody>
          <a:bodyPr wrap="square" lIns="0" rIns="0" tIns="0" bIns="0" anchor="t">
            <a:spAutoFit/>
          </a:bodyPr>
          <a:lstStyle/>
          <a:p>
            <a:pPr algn="l">
              <a:lnSpc>
                <a:spcPts val="1700"/>
              </a:lnSpc>
              <a:spcAft>
                <a:spcPts val="600"/>
              </a:spcAft>
            </a:pPr>
            <a:r>
              <a:rPr sz="1300" b="0" i="0">
                <a:solidFill>
                  <a:srgbClr val="1F2A30"/>
                </a:solidFill>
                <a:latin typeface="Calibri"/>
              </a:rPr>
              <a:t>Tasks with one right answer that a rule can check, where mistakes are easy to spot.</a:t>
            </a:r>
          </a:p>
        </p:txBody>
      </p:sp>
      <p:sp>
        <p:nvSpPr>
          <p:cNvPr id="9" name="Rounded Rectangle 8"/>
          <p:cNvSpPr/>
          <p:nvPr/>
        </p:nvSpPr>
        <p:spPr>
          <a:xfrm>
            <a:off x="4368698" y="3291840"/>
            <a:ext cx="3454298" cy="155448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43018" y="3520440"/>
            <a:ext cx="182880" cy="182880"/>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5626" y="3447288"/>
            <a:ext cx="2631338" cy="320040"/>
          </a:xfrm>
          <a:prstGeom prst="rect">
            <a:avLst/>
          </a:prstGeom>
          <a:noFill/>
        </p:spPr>
        <p:txBody>
          <a:bodyPr wrap="square" lIns="0" rIns="0" tIns="0" bIns="0" anchor="t">
            <a:spAutoFit/>
          </a:bodyPr>
          <a:lstStyle/>
          <a:p>
            <a:pPr algn="l">
              <a:lnSpc>
                <a:spcPts val="1939"/>
              </a:lnSpc>
              <a:spcAft>
                <a:spcPts val="0"/>
              </a:spcAft>
            </a:pPr>
            <a:r>
              <a:rPr sz="1550" b="1" i="0">
                <a:solidFill>
                  <a:srgbClr val="9C5214"/>
                </a:solidFill>
                <a:latin typeface="Calibri"/>
              </a:rPr>
              <a:t>An LLM agent</a:t>
            </a:r>
          </a:p>
        </p:txBody>
      </p:sp>
      <p:sp>
        <p:nvSpPr>
          <p:cNvPr id="12" name="TextBox 11"/>
          <p:cNvSpPr txBox="1"/>
          <p:nvPr/>
        </p:nvSpPr>
        <p:spPr>
          <a:xfrm>
            <a:off x="4643018" y="3904487"/>
            <a:ext cx="2905658" cy="822960"/>
          </a:xfrm>
          <a:prstGeom prst="rect">
            <a:avLst/>
          </a:prstGeom>
          <a:noFill/>
        </p:spPr>
        <p:txBody>
          <a:bodyPr wrap="square" lIns="0" rIns="0" tIns="0" bIns="0" anchor="t">
            <a:spAutoFit/>
          </a:bodyPr>
          <a:lstStyle/>
          <a:p>
            <a:pPr algn="l">
              <a:lnSpc>
                <a:spcPts val="1700"/>
              </a:lnSpc>
              <a:spcAft>
                <a:spcPts val="600"/>
              </a:spcAft>
            </a:pPr>
            <a:r>
              <a:rPr sz="1300" b="0" i="0">
                <a:solidFill>
                  <a:srgbClr val="1F2A30"/>
                </a:solidFill>
                <a:latin typeface="Calibri"/>
              </a:rPr>
              <a:t>Tasks that need reading and judgment over documentation and context, with a person checking the result.</a:t>
            </a:r>
          </a:p>
        </p:txBody>
      </p:sp>
      <p:sp>
        <p:nvSpPr>
          <p:cNvPr id="13" name="Rounded Rectangle 12"/>
          <p:cNvSpPr/>
          <p:nvPr/>
        </p:nvSpPr>
        <p:spPr>
          <a:xfrm>
            <a:off x="8097316" y="3291840"/>
            <a:ext cx="3454298" cy="155448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71636" y="3520440"/>
            <a:ext cx="182880" cy="182880"/>
          </a:xfrm>
          <a:prstGeom prst="ellipse">
            <a:avLst/>
          </a:prstGeom>
          <a:solidFill>
            <a:srgbClr val="1F2A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4244" y="3447288"/>
            <a:ext cx="2631338" cy="320040"/>
          </a:xfrm>
          <a:prstGeom prst="rect">
            <a:avLst/>
          </a:prstGeom>
          <a:noFill/>
        </p:spPr>
        <p:txBody>
          <a:bodyPr wrap="square" lIns="0" rIns="0" tIns="0" bIns="0" anchor="t">
            <a:spAutoFit/>
          </a:bodyPr>
          <a:lstStyle/>
          <a:p>
            <a:pPr algn="l">
              <a:lnSpc>
                <a:spcPts val="1939"/>
              </a:lnSpc>
              <a:spcAft>
                <a:spcPts val="0"/>
              </a:spcAft>
            </a:pPr>
            <a:r>
              <a:rPr sz="1550" b="1" i="0">
                <a:solidFill>
                  <a:srgbClr val="1F2A30"/>
                </a:solidFill>
                <a:latin typeface="Calibri"/>
              </a:rPr>
              <a:t>Kept with a person</a:t>
            </a:r>
          </a:p>
        </p:txBody>
      </p:sp>
      <p:sp>
        <p:nvSpPr>
          <p:cNvPr id="16" name="TextBox 15"/>
          <p:cNvSpPr txBox="1"/>
          <p:nvPr/>
        </p:nvSpPr>
        <p:spPr>
          <a:xfrm>
            <a:off x="8371636" y="3904487"/>
            <a:ext cx="2905658" cy="822960"/>
          </a:xfrm>
          <a:prstGeom prst="rect">
            <a:avLst/>
          </a:prstGeom>
          <a:noFill/>
        </p:spPr>
        <p:txBody>
          <a:bodyPr wrap="square" lIns="0" rIns="0" tIns="0" bIns="0" anchor="t">
            <a:spAutoFit/>
          </a:bodyPr>
          <a:lstStyle/>
          <a:p>
            <a:pPr algn="l">
              <a:lnSpc>
                <a:spcPts val="1700"/>
              </a:lnSpc>
              <a:spcAft>
                <a:spcPts val="600"/>
              </a:spcAft>
            </a:pPr>
            <a:r>
              <a:rPr sz="1300" b="0" i="0">
                <a:solidFill>
                  <a:srgbClr val="1F2A30"/>
                </a:solidFill>
                <a:latin typeface="Calibri"/>
              </a:rPr>
              <a:t>Tasks where a mistake would still look plausible, and the decision is really an expert's call.</a:t>
            </a:r>
          </a:p>
        </p:txBody>
      </p:sp>
      <p:sp>
        <p:nvSpPr>
          <p:cNvPr id="17" name="TextBox 16"/>
          <p:cNvSpPr txBox="1"/>
          <p:nvPr/>
        </p:nvSpPr>
        <p:spPr>
          <a:xfrm>
            <a:off x="640080" y="5166360"/>
            <a:ext cx="10515600" cy="868680"/>
          </a:xfrm>
          <a:prstGeom prst="rect">
            <a:avLst/>
          </a:prstGeom>
          <a:noFill/>
        </p:spPr>
        <p:txBody>
          <a:bodyPr wrap="square" lIns="0" rIns="0" tIns="0" bIns="0" anchor="t">
            <a:spAutoFit/>
          </a:bodyPr>
          <a:lstStyle/>
          <a:p>
            <a:pPr algn="l">
              <a:lnSpc>
                <a:spcPts val="2000"/>
              </a:lnSpc>
              <a:spcAft>
                <a:spcPts val="600"/>
              </a:spcAft>
            </a:pPr>
            <a:r>
              <a:rPr sz="1450" b="0" i="0">
                <a:solidFill>
                  <a:srgbClr val="1F2A30"/>
                </a:solidFill>
                <a:latin typeface="Calibri"/>
              </a:rPr>
              <a:t>This semester our contribution is a broad map of how and where AI can be used across the GGM workflow. We are not building anything yet. That is for the master's thesis next spring.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How the thesis fits together</a:t>
            </a:r>
          </a:p>
        </p:txBody>
      </p:sp>
      <p:sp>
        <p:nvSpPr>
          <p:cNvPr id="3" name="TextBox 2"/>
          <p:cNvSpPr txBox="1"/>
          <p:nvPr/>
        </p:nvSpPr>
        <p:spPr>
          <a:xfrm>
            <a:off x="640080" y="1024128"/>
            <a:ext cx="10911535" cy="457200"/>
          </a:xfrm>
          <a:prstGeom prst="rect">
            <a:avLst/>
          </a:prstGeom>
          <a:noFill/>
        </p:spPr>
        <p:txBody>
          <a:bodyPr wrap="square" lIns="0" rIns="0" tIns="0" bIns="0" anchor="t">
            <a:spAutoFit/>
          </a:bodyPr>
          <a:lstStyle/>
          <a:p>
            <a:pPr algn="l">
              <a:lnSpc>
                <a:spcPts val="1800"/>
              </a:lnSpc>
              <a:spcAft>
                <a:spcPts val="0"/>
              </a:spcAft>
            </a:pPr>
            <a:r>
              <a:rPr sz="1400" b="0" i="0">
                <a:solidFill>
                  <a:srgbClr val="5B6770"/>
                </a:solidFill>
                <a:latin typeface="Calibri"/>
              </a:rPr>
              <a:t>Eight chapters in four stages. Chapter 5 is the core, and everything else either leads up to it or follows from it.</a:t>
            </a:r>
          </a:p>
        </p:txBody>
      </p:sp>
      <p:sp>
        <p:nvSpPr>
          <p:cNvPr id="4" name="TextBox 3"/>
          <p:cNvSpPr txBox="1"/>
          <p:nvPr/>
        </p:nvSpPr>
        <p:spPr>
          <a:xfrm>
            <a:off x="746607" y="1719072"/>
            <a:ext cx="2331720" cy="274320"/>
          </a:xfrm>
          <a:prstGeom prst="rect">
            <a:avLst/>
          </a:prstGeom>
          <a:noFill/>
        </p:spPr>
        <p:txBody>
          <a:bodyPr wrap="square" lIns="0" rIns="0" tIns="0" bIns="0" anchor="t">
            <a:spAutoFit/>
          </a:bodyPr>
          <a:lstStyle/>
          <a:p>
            <a:pPr algn="l">
              <a:lnSpc>
                <a:spcPts val="1560"/>
              </a:lnSpc>
              <a:spcAft>
                <a:spcPts val="0"/>
              </a:spcAft>
            </a:pPr>
            <a:r>
              <a:rPr sz="1250" b="1" i="0">
                <a:solidFill>
                  <a:srgbClr val="5B6770"/>
                </a:solidFill>
                <a:latin typeface="Calibri"/>
              </a:rPr>
              <a:t>Setting up</a:t>
            </a:r>
          </a:p>
        </p:txBody>
      </p:sp>
      <p:sp>
        <p:nvSpPr>
          <p:cNvPr id="5" name="TextBox 4"/>
          <p:cNvSpPr txBox="1"/>
          <p:nvPr/>
        </p:nvSpPr>
        <p:spPr>
          <a:xfrm>
            <a:off x="3535527" y="1719072"/>
            <a:ext cx="2331720" cy="274320"/>
          </a:xfrm>
          <a:prstGeom prst="rect">
            <a:avLst/>
          </a:prstGeom>
          <a:noFill/>
        </p:spPr>
        <p:txBody>
          <a:bodyPr wrap="square" lIns="0" rIns="0" tIns="0" bIns="0" anchor="t">
            <a:spAutoFit/>
          </a:bodyPr>
          <a:lstStyle/>
          <a:p>
            <a:pPr algn="l">
              <a:lnSpc>
                <a:spcPts val="1560"/>
              </a:lnSpc>
              <a:spcAft>
                <a:spcPts val="0"/>
              </a:spcAft>
            </a:pPr>
            <a:r>
              <a:rPr sz="1250" b="1" i="0">
                <a:solidFill>
                  <a:srgbClr val="5B6770"/>
                </a:solidFill>
                <a:latin typeface="Calibri"/>
              </a:rPr>
              <a:t>The two halves of the problem</a:t>
            </a:r>
          </a:p>
        </p:txBody>
      </p:sp>
      <p:sp>
        <p:nvSpPr>
          <p:cNvPr id="6" name="TextBox 5"/>
          <p:cNvSpPr txBox="1"/>
          <p:nvPr/>
        </p:nvSpPr>
        <p:spPr>
          <a:xfrm>
            <a:off x="6324447" y="1719072"/>
            <a:ext cx="2331720" cy="274320"/>
          </a:xfrm>
          <a:prstGeom prst="rect">
            <a:avLst/>
          </a:prstGeom>
          <a:noFill/>
        </p:spPr>
        <p:txBody>
          <a:bodyPr wrap="square" lIns="0" rIns="0" tIns="0" bIns="0" anchor="t">
            <a:spAutoFit/>
          </a:bodyPr>
          <a:lstStyle/>
          <a:p>
            <a:pPr algn="l">
              <a:lnSpc>
                <a:spcPts val="1560"/>
              </a:lnSpc>
              <a:spcAft>
                <a:spcPts val="0"/>
              </a:spcAft>
            </a:pPr>
            <a:r>
              <a:rPr sz="1250" b="1" i="0">
                <a:solidFill>
                  <a:srgbClr val="5B6770"/>
                </a:solidFill>
                <a:latin typeface="Calibri"/>
              </a:rPr>
              <a:t>Where they meet</a:t>
            </a:r>
          </a:p>
        </p:txBody>
      </p:sp>
      <p:sp>
        <p:nvSpPr>
          <p:cNvPr id="7" name="TextBox 6"/>
          <p:cNvSpPr txBox="1"/>
          <p:nvPr/>
        </p:nvSpPr>
        <p:spPr>
          <a:xfrm>
            <a:off x="9113367" y="1719072"/>
            <a:ext cx="2331720" cy="274320"/>
          </a:xfrm>
          <a:prstGeom prst="rect">
            <a:avLst/>
          </a:prstGeom>
          <a:noFill/>
        </p:spPr>
        <p:txBody>
          <a:bodyPr wrap="square" lIns="0" rIns="0" tIns="0" bIns="0" anchor="t">
            <a:spAutoFit/>
          </a:bodyPr>
          <a:lstStyle/>
          <a:p>
            <a:pPr algn="l">
              <a:lnSpc>
                <a:spcPts val="1560"/>
              </a:lnSpc>
              <a:spcAft>
                <a:spcPts val="0"/>
              </a:spcAft>
            </a:pPr>
            <a:r>
              <a:rPr sz="1250" b="1" i="0">
                <a:solidFill>
                  <a:srgbClr val="5B6770"/>
                </a:solidFill>
                <a:latin typeface="Calibri"/>
              </a:rPr>
              <a:t>Wrapping up</a:t>
            </a:r>
          </a:p>
        </p:txBody>
      </p:sp>
      <p:sp>
        <p:nvSpPr>
          <p:cNvPr id="8" name="Rounded Rectangle 7"/>
          <p:cNvSpPr/>
          <p:nvPr/>
        </p:nvSpPr>
        <p:spPr>
          <a:xfrm>
            <a:off x="746607" y="2057400"/>
            <a:ext cx="2331720" cy="12344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2911" y="2221992"/>
            <a:ext cx="329184" cy="329184"/>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1</a:t>
            </a:r>
          </a:p>
        </p:txBody>
      </p:sp>
      <p:sp>
        <p:nvSpPr>
          <p:cNvPr id="10" name="TextBox 9"/>
          <p:cNvSpPr txBox="1"/>
          <p:nvPr/>
        </p:nvSpPr>
        <p:spPr>
          <a:xfrm>
            <a:off x="1313535" y="2212848"/>
            <a:ext cx="1618487" cy="457200"/>
          </a:xfrm>
          <a:prstGeom prst="rect">
            <a:avLst/>
          </a:prstGeom>
          <a:noFill/>
        </p:spPr>
        <p:txBody>
          <a:bodyPr wrap="square" lIns="0" rIns="0" tIns="0" bIns="0" anchor="t">
            <a:spAutoFit/>
          </a:bodyPr>
          <a:lstStyle/>
          <a:p>
            <a:pPr algn="l">
              <a:lnSpc>
                <a:spcPts val="1700"/>
              </a:lnSpc>
              <a:spcAft>
                <a:spcPts val="0"/>
              </a:spcAft>
            </a:pPr>
            <a:r>
              <a:rPr sz="1400" b="1" i="0">
                <a:solidFill>
                  <a:srgbClr val="1F2A30"/>
                </a:solidFill>
                <a:latin typeface="Calibri"/>
              </a:rPr>
              <a:t>Introduction</a:t>
            </a:r>
          </a:p>
        </p:txBody>
      </p:sp>
      <p:sp>
        <p:nvSpPr>
          <p:cNvPr id="11" name="TextBox 10"/>
          <p:cNvSpPr txBox="1"/>
          <p:nvPr/>
        </p:nvSpPr>
        <p:spPr>
          <a:xfrm>
            <a:off x="911199" y="2788920"/>
            <a:ext cx="2002536" cy="411480"/>
          </a:xfrm>
          <a:prstGeom prst="rect">
            <a:avLst/>
          </a:prstGeom>
          <a:noFill/>
        </p:spPr>
        <p:txBody>
          <a:bodyPr wrap="square" lIns="0" rIns="0" tIns="0" bIns="0" anchor="t">
            <a:spAutoFit/>
          </a:bodyPr>
          <a:lstStyle/>
          <a:p>
            <a:pPr algn="l">
              <a:lnSpc>
                <a:spcPts val="1500"/>
              </a:lnSpc>
              <a:spcAft>
                <a:spcPts val="600"/>
              </a:spcAft>
            </a:pPr>
            <a:r>
              <a:rPr sz="1150" b="0" i="0">
                <a:solidFill>
                  <a:srgbClr val="5B6770"/>
                </a:solidFill>
                <a:latin typeface="Calibri"/>
              </a:rPr>
              <a:t>The problem, the question, and what we do and don't do.</a:t>
            </a:r>
          </a:p>
        </p:txBody>
      </p:sp>
      <p:sp>
        <p:nvSpPr>
          <p:cNvPr id="12" name="Rounded Rectangle 11"/>
          <p:cNvSpPr/>
          <p:nvPr/>
        </p:nvSpPr>
        <p:spPr>
          <a:xfrm>
            <a:off x="746607" y="3474720"/>
            <a:ext cx="2331720" cy="12344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92911" y="3639312"/>
            <a:ext cx="329184" cy="329184"/>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2</a:t>
            </a:r>
          </a:p>
        </p:txBody>
      </p:sp>
      <p:sp>
        <p:nvSpPr>
          <p:cNvPr id="14" name="TextBox 13"/>
          <p:cNvSpPr txBox="1"/>
          <p:nvPr/>
        </p:nvSpPr>
        <p:spPr>
          <a:xfrm>
            <a:off x="1313535" y="3630168"/>
            <a:ext cx="1618487" cy="457200"/>
          </a:xfrm>
          <a:prstGeom prst="rect">
            <a:avLst/>
          </a:prstGeom>
          <a:noFill/>
        </p:spPr>
        <p:txBody>
          <a:bodyPr wrap="square" lIns="0" rIns="0" tIns="0" bIns="0" anchor="t">
            <a:spAutoFit/>
          </a:bodyPr>
          <a:lstStyle/>
          <a:p>
            <a:pPr algn="l">
              <a:lnSpc>
                <a:spcPts val="1700"/>
              </a:lnSpc>
              <a:spcAft>
                <a:spcPts val="0"/>
              </a:spcAft>
            </a:pPr>
            <a:r>
              <a:rPr sz="1400" b="1" i="0">
                <a:solidFill>
                  <a:srgbClr val="1F2A30"/>
                </a:solidFill>
                <a:latin typeface="Calibri"/>
              </a:rPr>
              <a:t>Literature review</a:t>
            </a:r>
          </a:p>
        </p:txBody>
      </p:sp>
      <p:sp>
        <p:nvSpPr>
          <p:cNvPr id="15" name="TextBox 14"/>
          <p:cNvSpPr txBox="1"/>
          <p:nvPr/>
        </p:nvSpPr>
        <p:spPr>
          <a:xfrm>
            <a:off x="911199" y="4206240"/>
            <a:ext cx="2002536" cy="411480"/>
          </a:xfrm>
          <a:prstGeom prst="rect">
            <a:avLst/>
          </a:prstGeom>
          <a:noFill/>
        </p:spPr>
        <p:txBody>
          <a:bodyPr wrap="square" lIns="0" rIns="0" tIns="0" bIns="0" anchor="t">
            <a:spAutoFit/>
          </a:bodyPr>
          <a:lstStyle/>
          <a:p>
            <a:pPr algn="l">
              <a:lnSpc>
                <a:spcPts val="1500"/>
              </a:lnSpc>
              <a:spcAft>
                <a:spcPts val="600"/>
              </a:spcAft>
            </a:pPr>
            <a:r>
              <a:rPr sz="1150" b="0" i="0">
                <a:solidFill>
                  <a:srgbClr val="5B6770"/>
                </a:solidFill>
                <a:latin typeface="Calibri"/>
              </a:rPr>
              <a:t>What has already been done in this area.</a:t>
            </a:r>
          </a:p>
        </p:txBody>
      </p:sp>
      <p:sp>
        <p:nvSpPr>
          <p:cNvPr id="16" name="Rounded Rectangle 15"/>
          <p:cNvSpPr/>
          <p:nvPr/>
        </p:nvSpPr>
        <p:spPr>
          <a:xfrm>
            <a:off x="3535527" y="2057400"/>
            <a:ext cx="2331720" cy="12344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681831" y="2221992"/>
            <a:ext cx="329184" cy="329184"/>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3</a:t>
            </a:r>
          </a:p>
        </p:txBody>
      </p:sp>
      <p:sp>
        <p:nvSpPr>
          <p:cNvPr id="18" name="TextBox 17"/>
          <p:cNvSpPr txBox="1"/>
          <p:nvPr/>
        </p:nvSpPr>
        <p:spPr>
          <a:xfrm>
            <a:off x="4102455" y="2212848"/>
            <a:ext cx="1618487" cy="457200"/>
          </a:xfrm>
          <a:prstGeom prst="rect">
            <a:avLst/>
          </a:prstGeom>
          <a:noFill/>
        </p:spPr>
        <p:txBody>
          <a:bodyPr wrap="square" lIns="0" rIns="0" tIns="0" bIns="0" anchor="t">
            <a:spAutoFit/>
          </a:bodyPr>
          <a:lstStyle/>
          <a:p>
            <a:pPr algn="l">
              <a:lnSpc>
                <a:spcPts val="1700"/>
              </a:lnSpc>
              <a:spcAft>
                <a:spcPts val="0"/>
              </a:spcAft>
            </a:pPr>
            <a:r>
              <a:rPr sz="1400" b="1" i="0">
                <a:solidFill>
                  <a:srgbClr val="1F2A30"/>
                </a:solidFill>
                <a:latin typeface="Calibri"/>
              </a:rPr>
              <a:t>The Global Gas Model</a:t>
            </a:r>
          </a:p>
        </p:txBody>
      </p:sp>
      <p:sp>
        <p:nvSpPr>
          <p:cNvPr id="19" name="TextBox 18"/>
          <p:cNvSpPr txBox="1"/>
          <p:nvPr/>
        </p:nvSpPr>
        <p:spPr>
          <a:xfrm>
            <a:off x="3700119" y="2788920"/>
            <a:ext cx="2002536" cy="411480"/>
          </a:xfrm>
          <a:prstGeom prst="rect">
            <a:avLst/>
          </a:prstGeom>
          <a:noFill/>
        </p:spPr>
        <p:txBody>
          <a:bodyPr wrap="square" lIns="0" rIns="0" tIns="0" bIns="0" anchor="t">
            <a:spAutoFit/>
          </a:bodyPr>
          <a:lstStyle/>
          <a:p>
            <a:pPr algn="l">
              <a:lnSpc>
                <a:spcPts val="1500"/>
              </a:lnSpc>
              <a:spcAft>
                <a:spcPts val="600"/>
              </a:spcAft>
            </a:pPr>
            <a:r>
              <a:rPr sz="1150" b="0" i="0">
                <a:solidFill>
                  <a:srgbClr val="5B6770"/>
                </a:solidFill>
                <a:latin typeface="Calibri"/>
              </a:rPr>
              <a:t>What the model is, and where the manual work goes.</a:t>
            </a:r>
          </a:p>
        </p:txBody>
      </p:sp>
      <p:sp>
        <p:nvSpPr>
          <p:cNvPr id="20" name="Rounded Rectangle 19"/>
          <p:cNvSpPr/>
          <p:nvPr/>
        </p:nvSpPr>
        <p:spPr>
          <a:xfrm>
            <a:off x="3535527" y="3474720"/>
            <a:ext cx="2331720" cy="123444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681831" y="3639312"/>
            <a:ext cx="329184" cy="329184"/>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4</a:t>
            </a:r>
          </a:p>
        </p:txBody>
      </p:sp>
      <p:sp>
        <p:nvSpPr>
          <p:cNvPr id="22" name="TextBox 21"/>
          <p:cNvSpPr txBox="1"/>
          <p:nvPr/>
        </p:nvSpPr>
        <p:spPr>
          <a:xfrm>
            <a:off x="4102455" y="3630168"/>
            <a:ext cx="1618487" cy="457200"/>
          </a:xfrm>
          <a:prstGeom prst="rect">
            <a:avLst/>
          </a:prstGeom>
          <a:noFill/>
        </p:spPr>
        <p:txBody>
          <a:bodyPr wrap="square" lIns="0" rIns="0" tIns="0" bIns="0" anchor="t">
            <a:spAutoFit/>
          </a:bodyPr>
          <a:lstStyle/>
          <a:p>
            <a:pPr algn="l">
              <a:lnSpc>
                <a:spcPts val="1700"/>
              </a:lnSpc>
              <a:spcAft>
                <a:spcPts val="0"/>
              </a:spcAft>
            </a:pPr>
            <a:r>
              <a:rPr sz="1400" b="1" i="0">
                <a:solidFill>
                  <a:srgbClr val="1F2A30"/>
                </a:solidFill>
                <a:latin typeface="Calibri"/>
              </a:rPr>
              <a:t>LLM agents</a:t>
            </a:r>
          </a:p>
        </p:txBody>
      </p:sp>
      <p:sp>
        <p:nvSpPr>
          <p:cNvPr id="23" name="TextBox 22"/>
          <p:cNvSpPr txBox="1"/>
          <p:nvPr/>
        </p:nvSpPr>
        <p:spPr>
          <a:xfrm>
            <a:off x="3700119" y="4206240"/>
            <a:ext cx="2002536" cy="411480"/>
          </a:xfrm>
          <a:prstGeom prst="rect">
            <a:avLst/>
          </a:prstGeom>
          <a:noFill/>
        </p:spPr>
        <p:txBody>
          <a:bodyPr wrap="square" lIns="0" rIns="0" tIns="0" bIns="0" anchor="t">
            <a:spAutoFit/>
          </a:bodyPr>
          <a:lstStyle/>
          <a:p>
            <a:pPr algn="l">
              <a:lnSpc>
                <a:spcPts val="1500"/>
              </a:lnSpc>
              <a:spcAft>
                <a:spcPts val="600"/>
              </a:spcAft>
            </a:pPr>
            <a:r>
              <a:rPr sz="1150" b="0" i="0">
                <a:solidFill>
                  <a:srgbClr val="5B6770"/>
                </a:solidFill>
                <a:latin typeface="Calibri"/>
              </a:rPr>
              <a:t>What they are good at, and what they are not.</a:t>
            </a:r>
          </a:p>
        </p:txBody>
      </p:sp>
      <p:sp>
        <p:nvSpPr>
          <p:cNvPr id="24" name="Rounded Rectangle 23"/>
          <p:cNvSpPr/>
          <p:nvPr/>
        </p:nvSpPr>
        <p:spPr>
          <a:xfrm>
            <a:off x="6324447" y="2057400"/>
            <a:ext cx="2331720" cy="2651760"/>
          </a:xfrm>
          <a:prstGeom prst="roundRect">
            <a:avLst>
              <a:gd name="adj" fmla="val 6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70751" y="2221992"/>
            <a:ext cx="329184" cy="329184"/>
          </a:xfrm>
          <a:prstGeom prst="ellipse">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5</a:t>
            </a:r>
          </a:p>
        </p:txBody>
      </p:sp>
      <p:sp>
        <p:nvSpPr>
          <p:cNvPr id="26" name="TextBox 25"/>
          <p:cNvSpPr txBox="1"/>
          <p:nvPr/>
        </p:nvSpPr>
        <p:spPr>
          <a:xfrm>
            <a:off x="6891375" y="2212848"/>
            <a:ext cx="1618487" cy="457200"/>
          </a:xfrm>
          <a:prstGeom prst="rect">
            <a:avLst/>
          </a:prstGeom>
          <a:noFill/>
        </p:spPr>
        <p:txBody>
          <a:bodyPr wrap="square" lIns="0" rIns="0" tIns="0" bIns="0" anchor="t">
            <a:spAutoFit/>
          </a:bodyPr>
          <a:lstStyle/>
          <a:p>
            <a:pPr algn="l">
              <a:lnSpc>
                <a:spcPts val="1700"/>
              </a:lnSpc>
              <a:spcAft>
                <a:spcPts val="0"/>
              </a:spcAft>
            </a:pPr>
            <a:r>
              <a:rPr sz="1400" b="1" i="0">
                <a:solidFill>
                  <a:srgbClr val="9C5214"/>
                </a:solidFill>
                <a:latin typeface="Calibri"/>
              </a:rPr>
              <a:t>Where AI fits</a:t>
            </a:r>
          </a:p>
        </p:txBody>
      </p:sp>
      <p:sp>
        <p:nvSpPr>
          <p:cNvPr id="27" name="TextBox 26"/>
          <p:cNvSpPr txBox="1"/>
          <p:nvPr/>
        </p:nvSpPr>
        <p:spPr>
          <a:xfrm>
            <a:off x="6489039" y="2788920"/>
            <a:ext cx="2002536" cy="1828800"/>
          </a:xfrm>
          <a:prstGeom prst="rect">
            <a:avLst/>
          </a:prstGeom>
          <a:noFill/>
        </p:spPr>
        <p:txBody>
          <a:bodyPr wrap="square" lIns="0" rIns="0" tIns="0" bIns="0" anchor="t">
            <a:spAutoFit/>
          </a:bodyPr>
          <a:lstStyle/>
          <a:p>
            <a:pPr algn="l">
              <a:lnSpc>
                <a:spcPts val="1500"/>
              </a:lnSpc>
              <a:spcAft>
                <a:spcPts val="600"/>
              </a:spcAft>
            </a:pPr>
            <a:r>
              <a:rPr sz="1150" b="0" i="0">
                <a:solidFill>
                  <a:srgbClr val="1F2A30"/>
                </a:solidFill>
                <a:latin typeface="Calibri"/>
              </a:rPr>
              <a:t>The core of the thesis: mapping how and where AI can be used across the GGM workflow.</a:t>
            </a:r>
          </a:p>
        </p:txBody>
      </p:sp>
      <p:sp>
        <p:nvSpPr>
          <p:cNvPr id="28" name="Rounded Rectangle 27"/>
          <p:cNvSpPr/>
          <p:nvPr/>
        </p:nvSpPr>
        <p:spPr>
          <a:xfrm>
            <a:off x="9113367" y="2057400"/>
            <a:ext cx="2331720" cy="786384"/>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59671" y="2304288"/>
            <a:ext cx="292608" cy="292608"/>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6</a:t>
            </a:r>
          </a:p>
        </p:txBody>
      </p:sp>
      <p:sp>
        <p:nvSpPr>
          <p:cNvPr id="30" name="TextBox 29"/>
          <p:cNvSpPr txBox="1"/>
          <p:nvPr/>
        </p:nvSpPr>
        <p:spPr>
          <a:xfrm>
            <a:off x="9662007" y="2057400"/>
            <a:ext cx="1645919" cy="786384"/>
          </a:xfrm>
          <a:prstGeom prst="rect">
            <a:avLst/>
          </a:prstGeom>
          <a:noFill/>
        </p:spPr>
        <p:txBody>
          <a:bodyPr wrap="square" lIns="0" rIns="0" tIns="0" bIns="0" anchor="ctr">
            <a:spAutoFit/>
          </a:bodyPr>
          <a:lstStyle/>
          <a:p>
            <a:pPr algn="l">
              <a:lnSpc>
                <a:spcPts val="1600"/>
              </a:lnSpc>
              <a:spcAft>
                <a:spcPts val="0"/>
              </a:spcAft>
            </a:pPr>
            <a:r>
              <a:rPr sz="1350" b="1" i="0">
                <a:solidFill>
                  <a:srgbClr val="1F2A30"/>
                </a:solidFill>
                <a:latin typeface="Calibri"/>
              </a:rPr>
              <a:t>Design sketch</a:t>
            </a:r>
          </a:p>
        </p:txBody>
      </p:sp>
      <p:sp>
        <p:nvSpPr>
          <p:cNvPr id="31" name="Rounded Rectangle 30"/>
          <p:cNvSpPr/>
          <p:nvPr/>
        </p:nvSpPr>
        <p:spPr>
          <a:xfrm>
            <a:off x="9113367" y="2990088"/>
            <a:ext cx="2331720" cy="786384"/>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259671" y="3236976"/>
            <a:ext cx="292608" cy="292608"/>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7</a:t>
            </a:r>
          </a:p>
        </p:txBody>
      </p:sp>
      <p:sp>
        <p:nvSpPr>
          <p:cNvPr id="33" name="TextBox 32"/>
          <p:cNvSpPr txBox="1"/>
          <p:nvPr/>
        </p:nvSpPr>
        <p:spPr>
          <a:xfrm>
            <a:off x="9662007" y="2990088"/>
            <a:ext cx="1645919" cy="786384"/>
          </a:xfrm>
          <a:prstGeom prst="rect">
            <a:avLst/>
          </a:prstGeom>
          <a:noFill/>
        </p:spPr>
        <p:txBody>
          <a:bodyPr wrap="square" lIns="0" rIns="0" tIns="0" bIns="0" anchor="ctr">
            <a:spAutoFit/>
          </a:bodyPr>
          <a:lstStyle/>
          <a:p>
            <a:pPr algn="l">
              <a:lnSpc>
                <a:spcPts val="1600"/>
              </a:lnSpc>
              <a:spcAft>
                <a:spcPts val="0"/>
              </a:spcAft>
            </a:pPr>
            <a:r>
              <a:rPr sz="1350" b="1" i="0">
                <a:solidFill>
                  <a:srgbClr val="1F2A30"/>
                </a:solidFill>
                <a:latin typeface="Calibri"/>
              </a:rPr>
              <a:t>Discussion</a:t>
            </a:r>
          </a:p>
        </p:txBody>
      </p:sp>
      <p:sp>
        <p:nvSpPr>
          <p:cNvPr id="34" name="Rounded Rectangle 33"/>
          <p:cNvSpPr/>
          <p:nvPr/>
        </p:nvSpPr>
        <p:spPr>
          <a:xfrm>
            <a:off x="9113367" y="3922776"/>
            <a:ext cx="2331720" cy="786384"/>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259671" y="4169664"/>
            <a:ext cx="292608" cy="292608"/>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8</a:t>
            </a:r>
          </a:p>
        </p:txBody>
      </p:sp>
      <p:sp>
        <p:nvSpPr>
          <p:cNvPr id="36" name="TextBox 35"/>
          <p:cNvSpPr txBox="1"/>
          <p:nvPr/>
        </p:nvSpPr>
        <p:spPr>
          <a:xfrm>
            <a:off x="9662007" y="3922776"/>
            <a:ext cx="1645919" cy="786384"/>
          </a:xfrm>
          <a:prstGeom prst="rect">
            <a:avLst/>
          </a:prstGeom>
          <a:noFill/>
        </p:spPr>
        <p:txBody>
          <a:bodyPr wrap="square" lIns="0" rIns="0" tIns="0" bIns="0" anchor="ctr">
            <a:spAutoFit/>
          </a:bodyPr>
          <a:lstStyle/>
          <a:p>
            <a:pPr algn="l">
              <a:lnSpc>
                <a:spcPts val="1600"/>
              </a:lnSpc>
              <a:spcAft>
                <a:spcPts val="0"/>
              </a:spcAft>
            </a:pPr>
            <a:r>
              <a:rPr sz="1350" b="1" i="0">
                <a:solidFill>
                  <a:srgbClr val="1F2A30"/>
                </a:solidFill>
                <a:latin typeface="Calibri"/>
              </a:rPr>
              <a:t>Conclusion and plan</a:t>
            </a:r>
          </a:p>
        </p:txBody>
      </p:sp>
      <p:sp>
        <p:nvSpPr>
          <p:cNvPr id="37" name="Right Arrow 36"/>
          <p:cNvSpPr/>
          <p:nvPr/>
        </p:nvSpPr>
        <p:spPr>
          <a:xfrm>
            <a:off x="3178911" y="3246120"/>
            <a:ext cx="256032" cy="274320"/>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5967831" y="3246120"/>
            <a:ext cx="256032" cy="274320"/>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8756751" y="3246120"/>
            <a:ext cx="256032" cy="274320"/>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120640"/>
            <a:ext cx="10911535" cy="822960"/>
          </a:xfrm>
          <a:prstGeom prst="rect">
            <a:avLst/>
          </a:prstGeom>
          <a:noFill/>
        </p:spPr>
        <p:txBody>
          <a:bodyPr wrap="square" lIns="0" rIns="0" tIns="0" bIns="0" anchor="t">
            <a:spAutoFit/>
          </a:bodyPr>
          <a:lstStyle/>
          <a:p>
            <a:pPr algn="l">
              <a:lnSpc>
                <a:spcPts val="1900"/>
              </a:lnSpc>
              <a:spcAft>
                <a:spcPts val="600"/>
              </a:spcAft>
            </a:pPr>
            <a:r>
              <a:rPr sz="1400" b="0" i="0">
                <a:solidFill>
                  <a:srgbClr val="1F2A30"/>
                </a:solidFill>
                <a:latin typeface="Calibri"/>
              </a:rPr>
              <a:t>Chapters 3 and 4 are the two halves of the problem: the model and the tool. Chapter 5 is where they meet. Chapters 6 to 8 could also be merged into a single closing chapter if you think eight is too many.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Chapters 1 to 4: setting up the problem</a:t>
            </a:r>
          </a:p>
        </p:txBody>
      </p:sp>
      <p:sp>
        <p:nvSpPr>
          <p:cNvPr id="3" name="Rounded Rectangle 2"/>
          <p:cNvSpPr/>
          <p:nvPr/>
        </p:nvSpPr>
        <p:spPr>
          <a:xfrm>
            <a:off x="640080" y="1280160"/>
            <a:ext cx="2834640" cy="502920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68680" y="1481328"/>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1</a:t>
            </a:r>
          </a:p>
        </p:txBody>
      </p:sp>
      <p:sp>
        <p:nvSpPr>
          <p:cNvPr id="5" name="TextBox 4"/>
          <p:cNvSpPr txBox="1"/>
          <p:nvPr/>
        </p:nvSpPr>
        <p:spPr>
          <a:xfrm>
            <a:off x="1353312" y="1499616"/>
            <a:ext cx="1920240"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Introduction</a:t>
            </a:r>
          </a:p>
        </p:txBody>
      </p:sp>
      <p:sp>
        <p:nvSpPr>
          <p:cNvPr id="6" name="TextBox 5"/>
          <p:cNvSpPr txBox="1"/>
          <p:nvPr/>
        </p:nvSpPr>
        <p:spPr>
          <a:xfrm>
            <a:off x="868680" y="2011680"/>
            <a:ext cx="2377440" cy="320040"/>
          </a:xfrm>
          <a:prstGeom prst="rect">
            <a:avLst/>
          </a:prstGeom>
          <a:noFill/>
        </p:spPr>
        <p:txBody>
          <a:bodyPr wrap="square" lIns="0" rIns="0" tIns="0" bIns="0" anchor="t">
            <a:spAutoFit/>
          </a:bodyPr>
          <a:lstStyle/>
          <a:p>
            <a:pPr algn="l">
              <a:lnSpc>
                <a:spcPts val="1500"/>
              </a:lnSpc>
              <a:spcAft>
                <a:spcPts val="0"/>
              </a:spcAft>
            </a:pPr>
            <a:r>
              <a:rPr sz="1200" b="0" i="1">
                <a:solidFill>
                  <a:srgbClr val="5B6770"/>
                </a:solidFill>
                <a:latin typeface="Calibri"/>
              </a:rPr>
              <a:t>Short, and mostly written last.</a:t>
            </a:r>
          </a:p>
        </p:txBody>
      </p:sp>
      <p:sp>
        <p:nvSpPr>
          <p:cNvPr id="7" name="TextBox 6"/>
          <p:cNvSpPr txBox="1"/>
          <p:nvPr/>
        </p:nvSpPr>
        <p:spPr>
          <a:xfrm>
            <a:off x="868680" y="2423160"/>
            <a:ext cx="2377440" cy="1783080"/>
          </a:xfrm>
          <a:prstGeom prst="rect">
            <a:avLst/>
          </a:prstGeom>
          <a:noFill/>
        </p:spPr>
        <p:txBody>
          <a:bodyPr wrap="square" lIns="0" rIns="0" tIns="0" bIns="0" anchor="t">
            <a:spAutoFit/>
          </a:bodyPr>
          <a:lstStyle/>
          <a:p>
            <a:pPr algn="l">
              <a:lnSpc>
                <a:spcPts val="1600"/>
              </a:lnSpc>
              <a:spcAft>
                <a:spcPts val="900"/>
              </a:spcAft>
            </a:pPr>
            <a:r>
              <a:rPr sz="1250" b="0" i="0">
                <a:solidFill>
                  <a:srgbClr val="1F2A30"/>
                </a:solidFill>
                <a:latin typeface="Calibri"/>
              </a:rPr>
              <a:t>Sets out the problem, our research question and what we contribute.</a:t>
            </a:r>
          </a:p>
          <a:p>
            <a:pPr algn="l">
              <a:lnSpc>
                <a:spcPts val="1600"/>
              </a:lnSpc>
              <a:spcAft>
                <a:spcPts val="600"/>
              </a:spcAft>
            </a:pPr>
            <a:r>
              <a:rPr sz="1250" b="0" i="0">
                <a:solidFill>
                  <a:srgbClr val="1F2A30"/>
                </a:solidFill>
                <a:latin typeface="Calibri"/>
              </a:rPr>
              <a:t>Makes clear this is an exploration, and gives a short sketch of GGM so the reader has some context from the start.</a:t>
            </a:r>
          </a:p>
        </p:txBody>
      </p:sp>
      <p:sp>
        <p:nvSpPr>
          <p:cNvPr id="8" name="Oval 7"/>
          <p:cNvSpPr/>
          <p:nvPr/>
        </p:nvSpPr>
        <p:spPr>
          <a:xfrm>
            <a:off x="868680" y="4434840"/>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2</a:t>
            </a:r>
          </a:p>
        </p:txBody>
      </p:sp>
      <p:sp>
        <p:nvSpPr>
          <p:cNvPr id="9" name="TextBox 8"/>
          <p:cNvSpPr txBox="1"/>
          <p:nvPr/>
        </p:nvSpPr>
        <p:spPr>
          <a:xfrm>
            <a:off x="1353312" y="4453128"/>
            <a:ext cx="1920240"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Literature review</a:t>
            </a:r>
          </a:p>
        </p:txBody>
      </p:sp>
      <p:sp>
        <p:nvSpPr>
          <p:cNvPr id="10" name="TextBox 9"/>
          <p:cNvSpPr txBox="1"/>
          <p:nvPr/>
        </p:nvSpPr>
        <p:spPr>
          <a:xfrm>
            <a:off x="868680" y="4965192"/>
            <a:ext cx="2377440" cy="1097280"/>
          </a:xfrm>
          <a:prstGeom prst="rect">
            <a:avLst/>
          </a:prstGeom>
          <a:noFill/>
        </p:spPr>
        <p:txBody>
          <a:bodyPr wrap="square" lIns="0" rIns="0" tIns="0" bIns="0" anchor="t">
            <a:spAutoFit/>
          </a:bodyPr>
          <a:lstStyle/>
          <a:p>
            <a:pPr algn="l">
              <a:lnSpc>
                <a:spcPts val="1600"/>
              </a:lnSpc>
              <a:spcAft>
                <a:spcPts val="600"/>
              </a:spcAft>
            </a:pPr>
            <a:r>
              <a:rPr sz="1250" b="0" i="0">
                <a:solidFill>
                  <a:srgbClr val="1F2A30"/>
                </a:solidFill>
                <a:latin typeface="Calibri"/>
              </a:rPr>
              <a:t>What has already been done in this area. Still in progress.</a:t>
            </a:r>
          </a:p>
        </p:txBody>
      </p:sp>
      <p:sp>
        <p:nvSpPr>
          <p:cNvPr id="11" name="Rounded Rectangle 10"/>
          <p:cNvSpPr/>
          <p:nvPr/>
        </p:nvSpPr>
        <p:spPr>
          <a:xfrm>
            <a:off x="3703320" y="1280160"/>
            <a:ext cx="3809847" cy="502920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931920" y="1481328"/>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3</a:t>
            </a:r>
          </a:p>
        </p:txBody>
      </p:sp>
      <p:sp>
        <p:nvSpPr>
          <p:cNvPr id="13" name="TextBox 12"/>
          <p:cNvSpPr txBox="1"/>
          <p:nvPr/>
        </p:nvSpPr>
        <p:spPr>
          <a:xfrm>
            <a:off x="4416552" y="1499616"/>
            <a:ext cx="2895447"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The Global Gas Model</a:t>
            </a:r>
          </a:p>
        </p:txBody>
      </p:sp>
      <p:sp>
        <p:nvSpPr>
          <p:cNvPr id="14" name="TextBox 13"/>
          <p:cNvSpPr txBox="1"/>
          <p:nvPr/>
        </p:nvSpPr>
        <p:spPr>
          <a:xfrm>
            <a:off x="3931920" y="2011680"/>
            <a:ext cx="3352647" cy="320040"/>
          </a:xfrm>
          <a:prstGeom prst="rect">
            <a:avLst/>
          </a:prstGeom>
          <a:noFill/>
        </p:spPr>
        <p:txBody>
          <a:bodyPr wrap="square" lIns="0" rIns="0" tIns="0" bIns="0" anchor="t">
            <a:spAutoFit/>
          </a:bodyPr>
          <a:lstStyle/>
          <a:p>
            <a:pPr algn="l">
              <a:lnSpc>
                <a:spcPts val="1500"/>
              </a:lnSpc>
              <a:spcAft>
                <a:spcPts val="0"/>
              </a:spcAft>
            </a:pPr>
            <a:r>
              <a:rPr sz="1200" b="0" i="1">
                <a:solidFill>
                  <a:srgbClr val="5B6770"/>
                </a:solidFill>
                <a:latin typeface="Calibri"/>
              </a:rPr>
              <a:t>Written for someone who has never heard of GGM.</a:t>
            </a:r>
          </a:p>
        </p:txBody>
      </p:sp>
      <p:sp>
        <p:nvSpPr>
          <p:cNvPr id="15" name="TextBox 14"/>
          <p:cNvSpPr txBox="1"/>
          <p:nvPr/>
        </p:nvSpPr>
        <p:spPr>
          <a:xfrm>
            <a:off x="3931920" y="2468880"/>
            <a:ext cx="3352647" cy="3703320"/>
          </a:xfrm>
          <a:prstGeom prst="rect">
            <a:avLst/>
          </a:prstGeom>
          <a:noFill/>
        </p:spPr>
        <p:txBody>
          <a:bodyPr wrap="square" lIns="0" rIns="0" tIns="0" bIns="0" anchor="t">
            <a:spAutoFit/>
          </a:bodyPr>
          <a:lstStyle/>
          <a:p>
            <a:pPr algn="l" marL="182880" indent="-182880">
              <a:lnSpc>
                <a:spcPts val="1600"/>
              </a:lnSpc>
              <a:spcAft>
                <a:spcPts val="700"/>
              </a:spcAft>
              <a:buFont typeface="Arial"/>
              <a:buChar char="•"/>
            </a:pPr>
            <a:r>
              <a:rPr sz="1250" b="0" i="0">
                <a:solidFill>
                  <a:srgbClr val="1F2A30"/>
                </a:solidFill>
                <a:latin typeface="Calibri"/>
              </a:rPr>
              <a:t>What the model is and what question it answers. It is a partial equilibrium model that runs over several periods and includes market power.</a:t>
            </a:r>
          </a:p>
          <a:p>
            <a:pPr algn="l" marL="182880" indent="-182880">
              <a:lnSpc>
                <a:spcPts val="1600"/>
              </a:lnSpc>
              <a:spcAft>
                <a:spcPts val="700"/>
              </a:spcAft>
              <a:buFont typeface="Arial"/>
              <a:buChar char="•"/>
            </a:pPr>
            <a:r>
              <a:rPr sz="1250" b="0" i="0">
                <a:solidFill>
                  <a:srgbClr val="1F2A30"/>
                </a:solidFill>
                <a:latin typeface="Calibri"/>
              </a:rPr>
              <a:t>How it is built: nodes, arcs, suppliers and seasons, plus the pipeline and LNG chains.</a:t>
            </a:r>
          </a:p>
          <a:p>
            <a:pPr algn="l" marL="182880" indent="-182880">
              <a:lnSpc>
                <a:spcPts val="1600"/>
              </a:lnSpc>
              <a:spcAft>
                <a:spcPts val="700"/>
              </a:spcAft>
              <a:buFont typeface="Arial"/>
              <a:buChar char="•"/>
            </a:pPr>
            <a:r>
              <a:rPr sz="1250" b="0" i="0">
                <a:solidFill>
                  <a:srgbClr val="1F2A30"/>
                </a:solidFill>
                <a:latin typeface="Calibri"/>
              </a:rPr>
              <a:t>What goes into it: the input workbooks and what they contain.</a:t>
            </a:r>
          </a:p>
          <a:p>
            <a:pPr algn="l" marL="182880" indent="-182880">
              <a:lnSpc>
                <a:spcPts val="1600"/>
              </a:lnSpc>
              <a:spcAft>
                <a:spcPts val="700"/>
              </a:spcAft>
              <a:buFont typeface="Arial"/>
              <a:buChar char="•"/>
            </a:pPr>
            <a:r>
              <a:rPr sz="1250" b="0" i="0">
                <a:solidFill>
                  <a:srgbClr val="1F2A30"/>
                </a:solidFill>
                <a:latin typeface="Calibri"/>
              </a:rPr>
              <a:t>The workflow around the model. This is the part that matters most for us, and the part the documentation says least about.</a:t>
            </a:r>
          </a:p>
          <a:p>
            <a:pPr algn="l" marL="182880" indent="-182880">
              <a:lnSpc>
                <a:spcPts val="1600"/>
              </a:lnSpc>
              <a:spcAft>
                <a:spcPts val="700"/>
              </a:spcAft>
              <a:buFont typeface="Arial"/>
              <a:buChar char="•"/>
            </a:pPr>
            <a:r>
              <a:rPr sz="1250" b="0" i="0">
                <a:solidFill>
                  <a:srgbClr val="1F2A30"/>
                </a:solidFill>
                <a:latin typeface="Calibri"/>
              </a:rPr>
              <a:t>Where the effort goes. The documentation itself says calibration takes an experienced analyst days to weeks.</a:t>
            </a:r>
          </a:p>
        </p:txBody>
      </p:sp>
      <p:sp>
        <p:nvSpPr>
          <p:cNvPr id="16" name="Rounded Rectangle 15"/>
          <p:cNvSpPr/>
          <p:nvPr/>
        </p:nvSpPr>
        <p:spPr>
          <a:xfrm>
            <a:off x="7741767" y="1280160"/>
            <a:ext cx="3809847" cy="502920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970367" y="1481328"/>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4</a:t>
            </a:r>
          </a:p>
        </p:txBody>
      </p:sp>
      <p:sp>
        <p:nvSpPr>
          <p:cNvPr id="18" name="TextBox 17"/>
          <p:cNvSpPr txBox="1"/>
          <p:nvPr/>
        </p:nvSpPr>
        <p:spPr>
          <a:xfrm>
            <a:off x="8454999" y="1499616"/>
            <a:ext cx="2895447"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LLM agents</a:t>
            </a:r>
          </a:p>
        </p:txBody>
      </p:sp>
      <p:sp>
        <p:nvSpPr>
          <p:cNvPr id="19" name="TextBox 18"/>
          <p:cNvSpPr txBox="1"/>
          <p:nvPr/>
        </p:nvSpPr>
        <p:spPr>
          <a:xfrm>
            <a:off x="7970367" y="2011680"/>
            <a:ext cx="3352647" cy="320040"/>
          </a:xfrm>
          <a:prstGeom prst="rect">
            <a:avLst/>
          </a:prstGeom>
          <a:noFill/>
        </p:spPr>
        <p:txBody>
          <a:bodyPr wrap="square" lIns="0" rIns="0" tIns="0" bIns="0" anchor="t">
            <a:spAutoFit/>
          </a:bodyPr>
          <a:lstStyle/>
          <a:p>
            <a:pPr algn="l">
              <a:lnSpc>
                <a:spcPts val="1500"/>
              </a:lnSpc>
              <a:spcAft>
                <a:spcPts val="0"/>
              </a:spcAft>
            </a:pPr>
            <a:r>
              <a:rPr sz="1200" b="0" i="1">
                <a:solidFill>
                  <a:srgbClr val="5B6770"/>
                </a:solidFill>
                <a:latin typeface="Calibri"/>
              </a:rPr>
              <a:t>A general chapter on what LLMs and agents are.</a:t>
            </a:r>
          </a:p>
        </p:txBody>
      </p:sp>
      <p:sp>
        <p:nvSpPr>
          <p:cNvPr id="20" name="TextBox 19"/>
          <p:cNvSpPr txBox="1"/>
          <p:nvPr/>
        </p:nvSpPr>
        <p:spPr>
          <a:xfrm>
            <a:off x="7970367" y="2468880"/>
            <a:ext cx="3352647" cy="3703320"/>
          </a:xfrm>
          <a:prstGeom prst="rect">
            <a:avLst/>
          </a:prstGeom>
          <a:noFill/>
        </p:spPr>
        <p:txBody>
          <a:bodyPr wrap="square" lIns="0" rIns="0" tIns="0" bIns="0" anchor="t">
            <a:spAutoFit/>
          </a:bodyPr>
          <a:lstStyle/>
          <a:p>
            <a:pPr algn="l" marL="182880" indent="-182880">
              <a:lnSpc>
                <a:spcPts val="1600"/>
              </a:lnSpc>
              <a:spcAft>
                <a:spcPts val="700"/>
              </a:spcAft>
              <a:buFont typeface="Arial"/>
              <a:buChar char="•"/>
            </a:pPr>
            <a:r>
              <a:rPr sz="1250" b="0" i="0">
                <a:solidFill>
                  <a:srgbClr val="1F2A30"/>
                </a:solidFill>
                <a:latin typeface="Calibri"/>
              </a:rPr>
              <a:t>What makes an agent different from a single prompt: it can use tools, work in several steps and react to what happens when it runs.</a:t>
            </a:r>
          </a:p>
          <a:p>
            <a:pPr algn="l" marL="182880" indent="-182880">
              <a:lnSpc>
                <a:spcPts val="1600"/>
              </a:lnSpc>
              <a:spcAft>
                <a:spcPts val="700"/>
              </a:spcAft>
              <a:buFont typeface="Arial"/>
              <a:buChar char="•"/>
            </a:pPr>
            <a:r>
              <a:rPr sz="1250" b="0" i="0">
                <a:solidFill>
                  <a:srgbClr val="1F2A30"/>
                </a:solidFill>
                <a:latin typeface="Calibri"/>
              </a:rPr>
              <a:t>What they are good at, such as reading messy documentation, following written rules of thumb, adjusting to numerical feedback and explaining their reasoning.</a:t>
            </a:r>
          </a:p>
          <a:p>
            <a:pPr algn="l" marL="182880" indent="-182880">
              <a:lnSpc>
                <a:spcPts val="1600"/>
              </a:lnSpc>
              <a:spcAft>
                <a:spcPts val="700"/>
              </a:spcAft>
              <a:buFont typeface="Arial"/>
              <a:buChar char="•"/>
            </a:pPr>
            <a:r>
              <a:rPr sz="1250" b="0" i="0">
                <a:solidFill>
                  <a:srgbClr val="1F2A30"/>
                </a:solidFill>
                <a:latin typeface="Calibri"/>
              </a:rPr>
              <a:t>What they are bad at: they can make things up, they are weak at arithmetic, they answer differently from run to run, and they can only hold so much at once.</a:t>
            </a:r>
          </a:p>
          <a:p>
            <a:pPr algn="l" marL="182880" indent="-182880">
              <a:lnSpc>
                <a:spcPts val="1600"/>
              </a:lnSpc>
              <a:spcAft>
                <a:spcPts val="700"/>
              </a:spcAft>
              <a:buFont typeface="Arial"/>
              <a:buChar char="•"/>
            </a:pPr>
            <a:r>
              <a:rPr sz="1250" b="0" i="0">
                <a:solidFill>
                  <a:srgbClr val="1F2A30"/>
                </a:solidFill>
                <a:latin typeface="Calibri"/>
              </a:rPr>
              <a:t>Which model to use, and what it costs.</a:t>
            </a:r>
          </a:p>
          <a:p>
            <a:pPr algn="l" marL="182880" indent="-182880">
              <a:lnSpc>
                <a:spcPts val="1600"/>
              </a:lnSpc>
              <a:spcAft>
                <a:spcPts val="700"/>
              </a:spcAft>
              <a:buFont typeface="Arial"/>
              <a:buChar char="•"/>
            </a:pPr>
            <a:r>
              <a:rPr sz="1250" b="0" i="0">
                <a:solidFill>
                  <a:srgbClr val="1F2A30"/>
                </a:solidFill>
                <a:latin typeface="Calibri"/>
              </a:rPr>
              <a:t>Which kinds of tasks suit an LLM and which are better as ordinary code, which chapter 5 then builds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Chapter 5: where AI fits in the GGM workflow</a:t>
            </a:r>
          </a:p>
        </p:txBody>
      </p:sp>
      <p:sp>
        <p:nvSpPr>
          <p:cNvPr id="3" name="TextBox 2"/>
          <p:cNvSpPr txBox="1"/>
          <p:nvPr/>
        </p:nvSpPr>
        <p:spPr>
          <a:xfrm>
            <a:off x="640080" y="1024128"/>
            <a:ext cx="10911535" cy="502920"/>
          </a:xfrm>
          <a:prstGeom prst="rect">
            <a:avLst/>
          </a:prstGeom>
          <a:noFill/>
        </p:spPr>
        <p:txBody>
          <a:bodyPr wrap="square" lIns="0" rIns="0" tIns="0" bIns="0" anchor="t">
            <a:spAutoFit/>
          </a:bodyPr>
          <a:lstStyle/>
          <a:p>
            <a:pPr algn="l">
              <a:lnSpc>
                <a:spcPts val="1800"/>
              </a:lnSpc>
              <a:spcAft>
                <a:spcPts val="0"/>
              </a:spcAft>
            </a:pPr>
            <a:r>
              <a:rPr sz="1400" b="0" i="0">
                <a:solidFill>
                  <a:srgbClr val="5B6770"/>
                </a:solidFill>
                <a:latin typeface="Calibri"/>
              </a:rPr>
              <a:t>The core of the thesis. We walk through the GGM workflow in the order the work happens, and look at where AI could help at each step.</a:t>
            </a:r>
          </a:p>
        </p:txBody>
      </p:sp>
      <p:sp>
        <p:nvSpPr>
          <p:cNvPr id="4" name="TextBox 3"/>
          <p:cNvSpPr txBox="1"/>
          <p:nvPr/>
        </p:nvSpPr>
        <p:spPr>
          <a:xfrm>
            <a:off x="640080" y="1719072"/>
            <a:ext cx="10911535" cy="274320"/>
          </a:xfrm>
          <a:prstGeom prst="rect">
            <a:avLst/>
          </a:prstGeom>
          <a:noFill/>
        </p:spPr>
        <p:txBody>
          <a:bodyPr wrap="square" lIns="0" rIns="0" tIns="0" bIns="0" anchor="t">
            <a:spAutoFit/>
          </a:bodyPr>
          <a:lstStyle/>
          <a:p>
            <a:pPr algn="l">
              <a:lnSpc>
                <a:spcPts val="1689"/>
              </a:lnSpc>
              <a:spcAft>
                <a:spcPts val="0"/>
              </a:spcAft>
            </a:pPr>
            <a:r>
              <a:rPr sz="1350" b="1" i="0">
                <a:solidFill>
                  <a:srgbClr val="5B6770"/>
                </a:solidFill>
                <a:latin typeface="Calibri"/>
              </a:rPr>
              <a:t>The steps we go through</a:t>
            </a:r>
          </a:p>
        </p:txBody>
      </p:sp>
      <p:sp>
        <p:nvSpPr>
          <p:cNvPr id="5" name="Rounded Rectangle 4"/>
          <p:cNvSpPr/>
          <p:nvPr/>
        </p:nvSpPr>
        <p:spPr>
          <a:xfrm>
            <a:off x="640080"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Get source data</a:t>
            </a:r>
          </a:p>
        </p:txBody>
      </p:sp>
      <p:sp>
        <p:nvSpPr>
          <p:cNvPr id="7" name="Right Arrow 6"/>
          <p:cNvSpPr/>
          <p:nvPr/>
        </p:nvSpPr>
        <p:spPr>
          <a:xfrm>
            <a:off x="2199589" y="2327148"/>
            <a:ext cx="274320" cy="237744"/>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519629"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11069"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Prepare the data</a:t>
            </a:r>
          </a:p>
        </p:txBody>
      </p:sp>
      <p:sp>
        <p:nvSpPr>
          <p:cNvPr id="10" name="Right Arrow 9"/>
          <p:cNvSpPr/>
          <p:nvPr/>
        </p:nvSpPr>
        <p:spPr>
          <a:xfrm>
            <a:off x="4079138" y="2327148"/>
            <a:ext cx="274320" cy="237744"/>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99178"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0618"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Set up the scenario</a:t>
            </a:r>
          </a:p>
        </p:txBody>
      </p:sp>
      <p:sp>
        <p:nvSpPr>
          <p:cNvPr id="13" name="Right Arrow 12"/>
          <p:cNvSpPr/>
          <p:nvPr/>
        </p:nvSpPr>
        <p:spPr>
          <a:xfrm>
            <a:off x="5958687" y="2327148"/>
            <a:ext cx="274320" cy="237744"/>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0167"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Calibrate</a:t>
            </a:r>
          </a:p>
        </p:txBody>
      </p:sp>
      <p:sp>
        <p:nvSpPr>
          <p:cNvPr id="16" name="Right Arrow 15"/>
          <p:cNvSpPr/>
          <p:nvPr/>
        </p:nvSpPr>
        <p:spPr>
          <a:xfrm>
            <a:off x="7838236" y="2327148"/>
            <a:ext cx="274320" cy="237744"/>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58276"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9716"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Run the model</a:t>
            </a:r>
          </a:p>
        </p:txBody>
      </p:sp>
      <p:sp>
        <p:nvSpPr>
          <p:cNvPr id="19" name="Right Arrow 18"/>
          <p:cNvSpPr/>
          <p:nvPr/>
        </p:nvSpPr>
        <p:spPr>
          <a:xfrm>
            <a:off x="9717786" y="2327148"/>
            <a:ext cx="274320" cy="237744"/>
          </a:xfrm>
          <a:prstGeom prst="rightArrow">
            <a:avLst/>
          </a:prstGeom>
          <a:solidFill>
            <a:srgbClr val="8DB0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037826" y="2057400"/>
            <a:ext cx="1513789" cy="777240"/>
          </a:xfrm>
          <a:prstGeom prst="roundRect">
            <a:avLst>
              <a:gd name="adj" fmla="val 12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29265" y="2057400"/>
            <a:ext cx="1330909" cy="777240"/>
          </a:xfrm>
          <a:prstGeom prst="rect">
            <a:avLst/>
          </a:prstGeom>
          <a:noFill/>
        </p:spPr>
        <p:txBody>
          <a:bodyPr wrap="square" lIns="0" rIns="0" tIns="0" bIns="0" anchor="ctr">
            <a:spAutoFit/>
          </a:bodyPr>
          <a:lstStyle/>
          <a:p>
            <a:pPr algn="ctr">
              <a:lnSpc>
                <a:spcPts val="1600"/>
              </a:lnSpc>
              <a:spcAft>
                <a:spcPts val="0"/>
              </a:spcAft>
            </a:pPr>
            <a:r>
              <a:rPr sz="1350" b="1" i="0">
                <a:solidFill>
                  <a:srgbClr val="1F5673"/>
                </a:solidFill>
                <a:latin typeface="Calibri"/>
              </a:rPr>
              <a:t>Read the results</a:t>
            </a:r>
          </a:p>
        </p:txBody>
      </p:sp>
      <p:sp>
        <p:nvSpPr>
          <p:cNvPr id="22" name="TextBox 21"/>
          <p:cNvSpPr txBox="1"/>
          <p:nvPr/>
        </p:nvSpPr>
        <p:spPr>
          <a:xfrm>
            <a:off x="640080" y="3154680"/>
            <a:ext cx="10911535" cy="274320"/>
          </a:xfrm>
          <a:prstGeom prst="rect">
            <a:avLst/>
          </a:prstGeom>
          <a:noFill/>
        </p:spPr>
        <p:txBody>
          <a:bodyPr wrap="square" lIns="0" rIns="0" tIns="0" bIns="0" anchor="t">
            <a:spAutoFit/>
          </a:bodyPr>
          <a:lstStyle/>
          <a:p>
            <a:pPr algn="l">
              <a:lnSpc>
                <a:spcPts val="1689"/>
              </a:lnSpc>
              <a:spcAft>
                <a:spcPts val="0"/>
              </a:spcAft>
            </a:pPr>
            <a:r>
              <a:rPr sz="1350" b="1" i="0">
                <a:solidFill>
                  <a:srgbClr val="5B6770"/>
                </a:solidFill>
                <a:latin typeface="Calibri"/>
              </a:rPr>
              <a:t>For each step we ask</a:t>
            </a:r>
          </a:p>
        </p:txBody>
      </p:sp>
      <p:sp>
        <p:nvSpPr>
          <p:cNvPr id="23" name="Oval 22"/>
          <p:cNvSpPr/>
          <p:nvPr/>
        </p:nvSpPr>
        <p:spPr>
          <a:xfrm>
            <a:off x="640080" y="3538728"/>
            <a:ext cx="310896" cy="310896"/>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1</a:t>
            </a:r>
          </a:p>
        </p:txBody>
      </p:sp>
      <p:sp>
        <p:nvSpPr>
          <p:cNvPr id="24" name="TextBox 23"/>
          <p:cNvSpPr txBox="1"/>
          <p:nvPr/>
        </p:nvSpPr>
        <p:spPr>
          <a:xfrm>
            <a:off x="1097280" y="3520440"/>
            <a:ext cx="2064943" cy="685800"/>
          </a:xfrm>
          <a:prstGeom prst="rect">
            <a:avLst/>
          </a:prstGeom>
          <a:noFill/>
        </p:spPr>
        <p:txBody>
          <a:bodyPr wrap="square" lIns="0" rIns="0" tIns="0" bIns="0" anchor="t">
            <a:spAutoFit/>
          </a:bodyPr>
          <a:lstStyle/>
          <a:p>
            <a:pPr algn="l">
              <a:lnSpc>
                <a:spcPts val="1650"/>
              </a:lnSpc>
              <a:spcAft>
                <a:spcPts val="200"/>
              </a:spcAft>
            </a:pPr>
            <a:r>
              <a:rPr sz="1300" b="1" i="0">
                <a:solidFill>
                  <a:srgbClr val="1F2A30"/>
                </a:solidFill>
                <a:latin typeface="Calibri"/>
              </a:rPr>
              <a:t>What happens today</a:t>
            </a:r>
          </a:p>
          <a:p>
            <a:pPr algn="l">
              <a:lnSpc>
                <a:spcPts val="1650"/>
              </a:lnSpc>
              <a:spcAft>
                <a:spcPts val="600"/>
              </a:spcAft>
            </a:pPr>
            <a:r>
              <a:rPr sz="1300" b="0" i="0">
                <a:solidFill>
                  <a:srgbClr val="5B6770"/>
                </a:solidFill>
                <a:latin typeface="Calibri"/>
              </a:rPr>
              <a:t>The step as the modellers do it now.</a:t>
            </a:r>
          </a:p>
        </p:txBody>
      </p:sp>
      <p:sp>
        <p:nvSpPr>
          <p:cNvPr id="25" name="Oval 24"/>
          <p:cNvSpPr/>
          <p:nvPr/>
        </p:nvSpPr>
        <p:spPr>
          <a:xfrm>
            <a:off x="3436543" y="3538728"/>
            <a:ext cx="310896" cy="310896"/>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2</a:t>
            </a:r>
          </a:p>
        </p:txBody>
      </p:sp>
      <p:sp>
        <p:nvSpPr>
          <p:cNvPr id="26" name="TextBox 25"/>
          <p:cNvSpPr txBox="1"/>
          <p:nvPr/>
        </p:nvSpPr>
        <p:spPr>
          <a:xfrm>
            <a:off x="3893743" y="3520440"/>
            <a:ext cx="2064943" cy="685800"/>
          </a:xfrm>
          <a:prstGeom prst="rect">
            <a:avLst/>
          </a:prstGeom>
          <a:noFill/>
        </p:spPr>
        <p:txBody>
          <a:bodyPr wrap="square" lIns="0" rIns="0" tIns="0" bIns="0" anchor="t">
            <a:spAutoFit/>
          </a:bodyPr>
          <a:lstStyle/>
          <a:p>
            <a:pPr algn="l">
              <a:lnSpc>
                <a:spcPts val="1650"/>
              </a:lnSpc>
              <a:spcAft>
                <a:spcPts val="200"/>
              </a:spcAft>
            </a:pPr>
            <a:r>
              <a:rPr sz="1300" b="1" i="0">
                <a:solidFill>
                  <a:srgbClr val="1F2A30"/>
                </a:solidFill>
                <a:latin typeface="Calibri"/>
              </a:rPr>
              <a:t>What the step needs</a:t>
            </a:r>
          </a:p>
          <a:p>
            <a:pPr algn="l">
              <a:lnSpc>
                <a:spcPts val="1650"/>
              </a:lnSpc>
              <a:spcAft>
                <a:spcPts val="600"/>
              </a:spcAft>
            </a:pPr>
            <a:r>
              <a:rPr sz="1300" b="0" i="0">
                <a:solidFill>
                  <a:srgbClr val="5B6770"/>
                </a:solidFill>
                <a:latin typeface="Calibri"/>
              </a:rPr>
              <a:t>Reading, arithmetic, judgment or checking.</a:t>
            </a:r>
          </a:p>
        </p:txBody>
      </p:sp>
      <p:sp>
        <p:nvSpPr>
          <p:cNvPr id="27" name="Oval 26"/>
          <p:cNvSpPr/>
          <p:nvPr/>
        </p:nvSpPr>
        <p:spPr>
          <a:xfrm>
            <a:off x="6233007" y="3538728"/>
            <a:ext cx="310896" cy="310896"/>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3</a:t>
            </a:r>
          </a:p>
        </p:txBody>
      </p:sp>
      <p:sp>
        <p:nvSpPr>
          <p:cNvPr id="28" name="TextBox 27"/>
          <p:cNvSpPr txBox="1"/>
          <p:nvPr/>
        </p:nvSpPr>
        <p:spPr>
          <a:xfrm>
            <a:off x="6690207" y="3520440"/>
            <a:ext cx="2064943" cy="685800"/>
          </a:xfrm>
          <a:prstGeom prst="rect">
            <a:avLst/>
          </a:prstGeom>
          <a:noFill/>
        </p:spPr>
        <p:txBody>
          <a:bodyPr wrap="square" lIns="0" rIns="0" tIns="0" bIns="0" anchor="t">
            <a:spAutoFit/>
          </a:bodyPr>
          <a:lstStyle/>
          <a:p>
            <a:pPr algn="l">
              <a:lnSpc>
                <a:spcPts val="1650"/>
              </a:lnSpc>
              <a:spcAft>
                <a:spcPts val="200"/>
              </a:spcAft>
            </a:pPr>
            <a:r>
              <a:rPr sz="1300" b="1" i="0">
                <a:solidFill>
                  <a:srgbClr val="1F2A30"/>
                </a:solidFill>
                <a:latin typeface="Calibri"/>
              </a:rPr>
              <a:t>What an agent could do</a:t>
            </a:r>
          </a:p>
          <a:p>
            <a:pPr algn="l">
              <a:lnSpc>
                <a:spcPts val="1650"/>
              </a:lnSpc>
              <a:spcAft>
                <a:spcPts val="600"/>
              </a:spcAft>
            </a:pPr>
            <a:r>
              <a:rPr sz="1300" b="0" i="0">
                <a:solidFill>
                  <a:srgbClr val="5B6770"/>
                </a:solidFill>
                <a:latin typeface="Calibri"/>
              </a:rPr>
              <a:t>Using what we set out in chapter 4.</a:t>
            </a:r>
          </a:p>
        </p:txBody>
      </p:sp>
      <p:sp>
        <p:nvSpPr>
          <p:cNvPr id="29" name="Oval 28"/>
          <p:cNvSpPr/>
          <p:nvPr/>
        </p:nvSpPr>
        <p:spPr>
          <a:xfrm>
            <a:off x="9029471" y="3538728"/>
            <a:ext cx="310896" cy="310896"/>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a:solidFill>
                  <a:srgbClr val="FFFFFF"/>
                </a:solidFill>
                <a:latin typeface="Calibri"/>
              </a:rPr>
              <a:t>4</a:t>
            </a:r>
          </a:p>
        </p:txBody>
      </p:sp>
      <p:sp>
        <p:nvSpPr>
          <p:cNvPr id="30" name="TextBox 29"/>
          <p:cNvSpPr txBox="1"/>
          <p:nvPr/>
        </p:nvSpPr>
        <p:spPr>
          <a:xfrm>
            <a:off x="9486671" y="3520440"/>
            <a:ext cx="2064943" cy="685800"/>
          </a:xfrm>
          <a:prstGeom prst="rect">
            <a:avLst/>
          </a:prstGeom>
          <a:noFill/>
        </p:spPr>
        <p:txBody>
          <a:bodyPr wrap="square" lIns="0" rIns="0" tIns="0" bIns="0" anchor="t">
            <a:spAutoFit/>
          </a:bodyPr>
          <a:lstStyle/>
          <a:p>
            <a:pPr algn="l">
              <a:lnSpc>
                <a:spcPts val="1650"/>
              </a:lnSpc>
              <a:spcAft>
                <a:spcPts val="200"/>
              </a:spcAft>
            </a:pPr>
            <a:r>
              <a:rPr sz="1300" b="1" i="0">
                <a:solidFill>
                  <a:srgbClr val="1F2A30"/>
                </a:solidFill>
                <a:latin typeface="Calibri"/>
              </a:rPr>
              <a:t>Where a person stays involved</a:t>
            </a:r>
          </a:p>
          <a:p>
            <a:pPr algn="l">
              <a:lnSpc>
                <a:spcPts val="1650"/>
              </a:lnSpc>
              <a:spcAft>
                <a:spcPts val="600"/>
              </a:spcAft>
            </a:pPr>
            <a:r>
              <a:rPr sz="1300" b="0" i="0">
                <a:solidFill>
                  <a:srgbClr val="5B6770"/>
                </a:solidFill>
                <a:latin typeface="Calibri"/>
              </a:rPr>
              <a:t>Judgment calls and sign-offs.</a:t>
            </a:r>
          </a:p>
        </p:txBody>
      </p:sp>
      <p:sp>
        <p:nvSpPr>
          <p:cNvPr id="31" name="TextBox 30"/>
          <p:cNvSpPr txBox="1"/>
          <p:nvPr/>
        </p:nvSpPr>
        <p:spPr>
          <a:xfrm>
            <a:off x="640080" y="4526280"/>
            <a:ext cx="10911535" cy="274320"/>
          </a:xfrm>
          <a:prstGeom prst="rect">
            <a:avLst/>
          </a:prstGeom>
          <a:noFill/>
        </p:spPr>
        <p:txBody>
          <a:bodyPr wrap="square" lIns="0" rIns="0" tIns="0" bIns="0" anchor="t">
            <a:spAutoFit/>
          </a:bodyPr>
          <a:lstStyle/>
          <a:p>
            <a:pPr algn="l">
              <a:lnSpc>
                <a:spcPts val="1689"/>
              </a:lnSpc>
              <a:spcAft>
                <a:spcPts val="0"/>
              </a:spcAft>
            </a:pPr>
            <a:r>
              <a:rPr sz="1350" b="1" i="0">
                <a:solidFill>
                  <a:srgbClr val="5B6770"/>
                </a:solidFill>
                <a:latin typeface="Calibri"/>
              </a:rPr>
              <a:t>Along the way and at the end</a:t>
            </a:r>
          </a:p>
        </p:txBody>
      </p:sp>
      <p:sp>
        <p:nvSpPr>
          <p:cNvPr id="32" name="Rounded Rectangle 31"/>
          <p:cNvSpPr/>
          <p:nvPr/>
        </p:nvSpPr>
        <p:spPr>
          <a:xfrm>
            <a:off x="640080" y="4846320"/>
            <a:ext cx="3454298" cy="137160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983480"/>
            <a:ext cx="2905658" cy="292608"/>
          </a:xfrm>
          <a:prstGeom prst="rect">
            <a:avLst/>
          </a:prstGeom>
          <a:noFill/>
        </p:spPr>
        <p:txBody>
          <a:bodyPr wrap="square" lIns="0" rIns="0" tIns="0" bIns="0" anchor="t">
            <a:spAutoFit/>
          </a:bodyPr>
          <a:lstStyle/>
          <a:p>
            <a:pPr algn="l">
              <a:lnSpc>
                <a:spcPts val="1810"/>
              </a:lnSpc>
              <a:spcAft>
                <a:spcPts val="0"/>
              </a:spcAft>
            </a:pPr>
            <a:r>
              <a:rPr sz="1450" b="1" i="0">
                <a:solidFill>
                  <a:srgbClr val="1F5673"/>
                </a:solidFill>
                <a:latin typeface="Calibri"/>
              </a:rPr>
              <a:t>Examples from real data</a:t>
            </a:r>
          </a:p>
        </p:txBody>
      </p:sp>
      <p:sp>
        <p:nvSpPr>
          <p:cNvPr id="34" name="TextBox 33"/>
          <p:cNvSpPr txBox="1"/>
          <p:nvPr/>
        </p:nvSpPr>
        <p:spPr>
          <a:xfrm>
            <a:off x="914400" y="5349240"/>
            <a:ext cx="2905658" cy="777240"/>
          </a:xfrm>
          <a:prstGeom prst="rect">
            <a:avLst/>
          </a:prstGeom>
          <a:noFill/>
        </p:spPr>
        <p:txBody>
          <a:bodyPr wrap="square" lIns="0" rIns="0" tIns="0" bIns="0" anchor="t">
            <a:spAutoFit/>
          </a:bodyPr>
          <a:lstStyle/>
          <a:p>
            <a:pPr algn="l">
              <a:lnSpc>
                <a:spcPts val="1600"/>
              </a:lnSpc>
              <a:spcAft>
                <a:spcPts val="600"/>
              </a:spcAft>
            </a:pPr>
            <a:r>
              <a:rPr sz="1250" b="0" i="0">
                <a:solidFill>
                  <a:srgbClr val="1F2A30"/>
                </a:solidFill>
                <a:latin typeface="Calibri"/>
              </a:rPr>
              <a:t>Short examples from the 2023 data back up the points, so the chapter stays general without being vague.</a:t>
            </a:r>
          </a:p>
        </p:txBody>
      </p:sp>
      <p:sp>
        <p:nvSpPr>
          <p:cNvPr id="35" name="Rounded Rectangle 34"/>
          <p:cNvSpPr/>
          <p:nvPr/>
        </p:nvSpPr>
        <p:spPr>
          <a:xfrm>
            <a:off x="4368698" y="4846320"/>
            <a:ext cx="3454298" cy="137160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43018" y="4983480"/>
            <a:ext cx="2905658" cy="292608"/>
          </a:xfrm>
          <a:prstGeom prst="rect">
            <a:avLst/>
          </a:prstGeom>
          <a:noFill/>
        </p:spPr>
        <p:txBody>
          <a:bodyPr wrap="square" lIns="0" rIns="0" tIns="0" bIns="0" anchor="t">
            <a:spAutoFit/>
          </a:bodyPr>
          <a:lstStyle/>
          <a:p>
            <a:pPr algn="l">
              <a:lnSpc>
                <a:spcPts val="1810"/>
              </a:lnSpc>
              <a:spcAft>
                <a:spcPts val="0"/>
              </a:spcAft>
            </a:pPr>
            <a:r>
              <a:rPr sz="1450" b="1" i="0">
                <a:solidFill>
                  <a:srgbClr val="1F5673"/>
                </a:solidFill>
                <a:latin typeface="Calibri"/>
              </a:rPr>
              <a:t>A figure that sums it up</a:t>
            </a:r>
          </a:p>
        </p:txBody>
      </p:sp>
      <p:sp>
        <p:nvSpPr>
          <p:cNvPr id="37" name="TextBox 36"/>
          <p:cNvSpPr txBox="1"/>
          <p:nvPr/>
        </p:nvSpPr>
        <p:spPr>
          <a:xfrm>
            <a:off x="4643018" y="5349240"/>
            <a:ext cx="2905658" cy="777240"/>
          </a:xfrm>
          <a:prstGeom prst="rect">
            <a:avLst/>
          </a:prstGeom>
          <a:noFill/>
        </p:spPr>
        <p:txBody>
          <a:bodyPr wrap="square" lIns="0" rIns="0" tIns="0" bIns="0" anchor="t">
            <a:spAutoFit/>
          </a:bodyPr>
          <a:lstStyle/>
          <a:p>
            <a:pPr algn="l">
              <a:lnSpc>
                <a:spcPts val="1600"/>
              </a:lnSpc>
              <a:spcAft>
                <a:spcPts val="600"/>
              </a:spcAft>
            </a:pPr>
            <a:r>
              <a:rPr sz="1250" b="0" i="0">
                <a:solidFill>
                  <a:srgbClr val="1F2A30"/>
                </a:solidFill>
                <a:latin typeface="Calibri"/>
              </a:rPr>
              <a:t>Where each step lands, from “automate” to “keep with a person”. We haven't settled the format yet.</a:t>
            </a:r>
          </a:p>
        </p:txBody>
      </p:sp>
      <p:sp>
        <p:nvSpPr>
          <p:cNvPr id="38" name="Rounded Rectangle 37"/>
          <p:cNvSpPr/>
          <p:nvPr/>
        </p:nvSpPr>
        <p:spPr>
          <a:xfrm>
            <a:off x="8097316" y="4846320"/>
            <a:ext cx="3454298" cy="1371600"/>
          </a:xfrm>
          <a:prstGeom prst="roundRect">
            <a:avLst>
              <a:gd name="adj" fmla="val 6000"/>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71636" y="4983480"/>
            <a:ext cx="2905658" cy="292608"/>
          </a:xfrm>
          <a:prstGeom prst="rect">
            <a:avLst/>
          </a:prstGeom>
          <a:noFill/>
        </p:spPr>
        <p:txBody>
          <a:bodyPr wrap="square" lIns="0" rIns="0" tIns="0" bIns="0" anchor="t">
            <a:spAutoFit/>
          </a:bodyPr>
          <a:lstStyle/>
          <a:p>
            <a:pPr algn="l">
              <a:lnSpc>
                <a:spcPts val="1810"/>
              </a:lnSpc>
              <a:spcAft>
                <a:spcPts val="0"/>
              </a:spcAft>
            </a:pPr>
            <a:r>
              <a:rPr sz="1450" b="1" i="0">
                <a:solidFill>
                  <a:srgbClr val="9C5214"/>
                </a:solidFill>
                <a:latin typeface="Calibri"/>
              </a:rPr>
              <a:t>A job description for each agent</a:t>
            </a:r>
          </a:p>
        </p:txBody>
      </p:sp>
      <p:sp>
        <p:nvSpPr>
          <p:cNvPr id="40" name="TextBox 39"/>
          <p:cNvSpPr txBox="1"/>
          <p:nvPr/>
        </p:nvSpPr>
        <p:spPr>
          <a:xfrm>
            <a:off x="8371636" y="5349240"/>
            <a:ext cx="2905658" cy="777240"/>
          </a:xfrm>
          <a:prstGeom prst="rect">
            <a:avLst/>
          </a:prstGeom>
          <a:noFill/>
        </p:spPr>
        <p:txBody>
          <a:bodyPr wrap="square" lIns="0" rIns="0" tIns="0" bIns="0" anchor="t">
            <a:spAutoFit/>
          </a:bodyPr>
          <a:lstStyle/>
          <a:p>
            <a:pPr algn="l">
              <a:lnSpc>
                <a:spcPts val="1600"/>
              </a:lnSpc>
              <a:spcAft>
                <a:spcPts val="600"/>
              </a:spcAft>
            </a:pPr>
            <a:r>
              <a:rPr sz="1250" b="0" i="0">
                <a:solidFill>
                  <a:srgbClr val="1F2A30"/>
                </a:solidFill>
                <a:latin typeface="Calibri"/>
              </a:rPr>
              <a:t>What each agent gets, what it produces and what it must not do. This is where next semester starts.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Chapters 6 to 8: closing the thesis</a:t>
            </a:r>
          </a:p>
        </p:txBody>
      </p:sp>
      <p:sp>
        <p:nvSpPr>
          <p:cNvPr id="3" name="TextBox 2"/>
          <p:cNvSpPr txBox="1"/>
          <p:nvPr/>
        </p:nvSpPr>
        <p:spPr>
          <a:xfrm>
            <a:off x="640080" y="1024128"/>
            <a:ext cx="10911535" cy="457200"/>
          </a:xfrm>
          <a:prstGeom prst="rect">
            <a:avLst/>
          </a:prstGeom>
          <a:noFill/>
        </p:spPr>
        <p:txBody>
          <a:bodyPr wrap="square" lIns="0" rIns="0" tIns="0" bIns="0" anchor="t">
            <a:spAutoFit/>
          </a:bodyPr>
          <a:lstStyle/>
          <a:p>
            <a:pPr algn="l">
              <a:lnSpc>
                <a:spcPts val="1800"/>
              </a:lnSpc>
              <a:spcAft>
                <a:spcPts val="0"/>
              </a:spcAft>
            </a:pPr>
            <a:r>
              <a:rPr sz="1400" b="0" i="0">
                <a:solidFill>
                  <a:srgbClr val="5B6770"/>
                </a:solidFill>
                <a:latin typeface="Calibri"/>
              </a:rPr>
              <a:t>These three could also be merged into one closing chapter if that works better.</a:t>
            </a:r>
          </a:p>
        </p:txBody>
      </p:sp>
      <p:sp>
        <p:nvSpPr>
          <p:cNvPr id="4" name="Rounded Rectangle 3"/>
          <p:cNvSpPr/>
          <p:nvPr/>
        </p:nvSpPr>
        <p:spPr>
          <a:xfrm>
            <a:off x="640080" y="1691640"/>
            <a:ext cx="5318607" cy="21031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965960"/>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6</a:t>
            </a:r>
          </a:p>
        </p:txBody>
      </p:sp>
      <p:sp>
        <p:nvSpPr>
          <p:cNvPr id="6" name="TextBox 5"/>
          <p:cNvSpPr txBox="1"/>
          <p:nvPr/>
        </p:nvSpPr>
        <p:spPr>
          <a:xfrm>
            <a:off x="1417319" y="1993392"/>
            <a:ext cx="4267047"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Design sketch for the master's thesis</a:t>
            </a:r>
          </a:p>
        </p:txBody>
      </p:sp>
      <p:sp>
        <p:nvSpPr>
          <p:cNvPr id="7" name="TextBox 6"/>
          <p:cNvSpPr txBox="1"/>
          <p:nvPr/>
        </p:nvSpPr>
        <p:spPr>
          <a:xfrm>
            <a:off x="914400" y="2560320"/>
            <a:ext cx="4769967" cy="1097279"/>
          </a:xfrm>
          <a:prstGeom prst="rect">
            <a:avLst/>
          </a:prstGeom>
          <a:noFill/>
        </p:spPr>
        <p:txBody>
          <a:bodyPr wrap="square" lIns="0" rIns="0" tIns="0" bIns="0" anchor="t">
            <a:spAutoFit/>
          </a:bodyPr>
          <a:lstStyle/>
          <a:p>
            <a:pPr algn="l">
              <a:lnSpc>
                <a:spcPts val="1850"/>
              </a:lnSpc>
              <a:spcAft>
                <a:spcPts val="600"/>
              </a:spcAft>
            </a:pPr>
            <a:r>
              <a:rPr sz="1350" b="0" i="0">
                <a:solidFill>
                  <a:srgbClr val="1F2A30"/>
                </a:solidFill>
                <a:latin typeface="Calibri"/>
              </a:rPr>
              <a:t>What a system built on chapter 5 would look like: which part does what, where people stay involved, and what gets checked and how. It is a sketch to show the idea is feasible, not a full specification.</a:t>
            </a:r>
          </a:p>
        </p:txBody>
      </p:sp>
      <p:sp>
        <p:nvSpPr>
          <p:cNvPr id="8" name="Rounded Rectangle 7"/>
          <p:cNvSpPr/>
          <p:nvPr/>
        </p:nvSpPr>
        <p:spPr>
          <a:xfrm>
            <a:off x="6233007" y="1691640"/>
            <a:ext cx="5318607" cy="210312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07327" y="1965960"/>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7</a:t>
            </a:r>
          </a:p>
        </p:txBody>
      </p:sp>
      <p:sp>
        <p:nvSpPr>
          <p:cNvPr id="10" name="TextBox 9"/>
          <p:cNvSpPr txBox="1"/>
          <p:nvPr/>
        </p:nvSpPr>
        <p:spPr>
          <a:xfrm>
            <a:off x="7010247" y="1993392"/>
            <a:ext cx="4267047"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Discussion</a:t>
            </a:r>
          </a:p>
        </p:txBody>
      </p:sp>
      <p:sp>
        <p:nvSpPr>
          <p:cNvPr id="11" name="TextBox 10"/>
          <p:cNvSpPr txBox="1"/>
          <p:nvPr/>
        </p:nvSpPr>
        <p:spPr>
          <a:xfrm>
            <a:off x="6507327" y="2560320"/>
            <a:ext cx="4769967" cy="1097279"/>
          </a:xfrm>
          <a:prstGeom prst="rect">
            <a:avLst/>
          </a:prstGeom>
          <a:noFill/>
        </p:spPr>
        <p:txBody>
          <a:bodyPr wrap="square" lIns="0" rIns="0" tIns="0" bIns="0" anchor="t">
            <a:spAutoFit/>
          </a:bodyPr>
          <a:lstStyle/>
          <a:p>
            <a:pPr algn="l">
              <a:lnSpc>
                <a:spcPts val="1850"/>
              </a:lnSpc>
              <a:spcAft>
                <a:spcPts val="600"/>
              </a:spcAft>
            </a:pPr>
            <a:r>
              <a:rPr sz="1350" b="0" i="0">
                <a:solidFill>
                  <a:srgbClr val="1F2A30"/>
                </a:solidFill>
                <a:latin typeface="Calibri"/>
              </a:rPr>
              <a:t>Risks, limitations and what the analysis does not settle. This includes what should not be automated and why, which we see as part of the argument rather than a caveat.</a:t>
            </a:r>
          </a:p>
        </p:txBody>
      </p:sp>
      <p:sp>
        <p:nvSpPr>
          <p:cNvPr id="12" name="Rounded Rectangle 11"/>
          <p:cNvSpPr/>
          <p:nvPr/>
        </p:nvSpPr>
        <p:spPr>
          <a:xfrm>
            <a:off x="640080" y="4069080"/>
            <a:ext cx="10911535" cy="1554480"/>
          </a:xfrm>
          <a:prstGeom prst="roundRect">
            <a:avLst>
              <a:gd name="adj" fmla="val 6000"/>
            </a:avLst>
          </a:prstGeom>
          <a:solidFill>
            <a:srgbClr val="EAF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14400" y="4343400"/>
            <a:ext cx="365760" cy="365760"/>
          </a:xfrm>
          <a:prstGeom prst="ellipse">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00" b="1">
                <a:solidFill>
                  <a:srgbClr val="FFFFFF"/>
                </a:solidFill>
                <a:latin typeface="Calibri"/>
              </a:rPr>
              <a:t>8</a:t>
            </a:r>
          </a:p>
        </p:txBody>
      </p:sp>
      <p:sp>
        <p:nvSpPr>
          <p:cNvPr id="14" name="TextBox 13"/>
          <p:cNvSpPr txBox="1"/>
          <p:nvPr/>
        </p:nvSpPr>
        <p:spPr>
          <a:xfrm>
            <a:off x="1417319" y="4370832"/>
            <a:ext cx="9859975" cy="365760"/>
          </a:xfrm>
          <a:prstGeom prst="rect">
            <a:avLst/>
          </a:prstGeom>
          <a:noFill/>
        </p:spPr>
        <p:txBody>
          <a:bodyPr wrap="square" lIns="0" rIns="0" tIns="0" bIns="0" anchor="t">
            <a:spAutoFit/>
          </a:bodyPr>
          <a:lstStyle/>
          <a:p>
            <a:pPr algn="l">
              <a:lnSpc>
                <a:spcPts val="2000"/>
              </a:lnSpc>
              <a:spcAft>
                <a:spcPts val="0"/>
              </a:spcAft>
            </a:pPr>
            <a:r>
              <a:rPr sz="1600" b="1" i="0">
                <a:solidFill>
                  <a:srgbClr val="1F2A30"/>
                </a:solidFill>
                <a:latin typeface="Calibri"/>
              </a:rPr>
              <a:t>Conclusion and plan for spring</a:t>
            </a:r>
          </a:p>
        </p:txBody>
      </p:sp>
      <p:sp>
        <p:nvSpPr>
          <p:cNvPr id="15" name="TextBox 14"/>
          <p:cNvSpPr txBox="1"/>
          <p:nvPr/>
        </p:nvSpPr>
        <p:spPr>
          <a:xfrm>
            <a:off x="914400" y="4937760"/>
            <a:ext cx="10362895" cy="548639"/>
          </a:xfrm>
          <a:prstGeom prst="rect">
            <a:avLst/>
          </a:prstGeom>
          <a:noFill/>
        </p:spPr>
        <p:txBody>
          <a:bodyPr wrap="square" lIns="0" rIns="0" tIns="0" bIns="0" anchor="t">
            <a:spAutoFit/>
          </a:bodyPr>
          <a:lstStyle/>
          <a:p>
            <a:pPr algn="l">
              <a:lnSpc>
                <a:spcPts val="1850"/>
              </a:lnSpc>
              <a:spcAft>
                <a:spcPts val="600"/>
              </a:spcAft>
            </a:pPr>
            <a:r>
              <a:rPr sz="1350" b="0" i="0">
                <a:solidFill>
                  <a:srgbClr val="1F2A30"/>
                </a:solidFill>
                <a:latin typeface="Calibri"/>
              </a:rPr>
              <a:t>What we established, what is still open, and what the master's thesis should build. It doubles as a first project plan for next semester.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457200"/>
            <a:ext cx="10911535" cy="548640"/>
          </a:xfrm>
          <a:prstGeom prst="rect">
            <a:avLst/>
          </a:prstGeom>
          <a:noFill/>
        </p:spPr>
        <p:txBody>
          <a:bodyPr wrap="square" lIns="0" rIns="0" tIns="0" bIns="0" anchor="t">
            <a:spAutoFit/>
          </a:bodyPr>
          <a:lstStyle/>
          <a:p>
            <a:pPr algn="l">
              <a:lnSpc>
                <a:spcPts val="3600"/>
              </a:lnSpc>
              <a:spcAft>
                <a:spcPts val="0"/>
              </a:spcAft>
            </a:pPr>
            <a:r>
              <a:rPr sz="3000" b="1" i="0">
                <a:solidFill>
                  <a:srgbClr val="1F5673"/>
                </a:solidFill>
                <a:latin typeface="Calibri"/>
              </a:rPr>
              <a:t>Week-by-week plan for October</a:t>
            </a:r>
          </a:p>
        </p:txBody>
      </p:sp>
      <p:sp>
        <p:nvSpPr>
          <p:cNvPr id="3" name="TextBox 2"/>
          <p:cNvSpPr txBox="1"/>
          <p:nvPr/>
        </p:nvSpPr>
        <p:spPr>
          <a:xfrm>
            <a:off x="640080" y="1024128"/>
            <a:ext cx="10911535" cy="457200"/>
          </a:xfrm>
          <a:prstGeom prst="rect">
            <a:avLst/>
          </a:prstGeom>
          <a:noFill/>
        </p:spPr>
        <p:txBody>
          <a:bodyPr wrap="square" lIns="0" rIns="0" tIns="0" bIns="0" anchor="t">
            <a:spAutoFit/>
          </a:bodyPr>
          <a:lstStyle/>
          <a:p>
            <a:pPr algn="l">
              <a:lnSpc>
                <a:spcPts val="1800"/>
              </a:lnSpc>
              <a:spcAft>
                <a:spcPts val="0"/>
              </a:spcAft>
            </a:pPr>
            <a:r>
              <a:rPr sz="1400" b="0" i="0">
                <a:solidFill>
                  <a:srgbClr val="5B6770"/>
                </a:solidFill>
                <a:latin typeface="Calibri"/>
              </a:rPr>
              <a:t>Goal: a complete first draft of the project thesis by 31 October. This is a first version of the plan, so it will change.</a:t>
            </a:r>
          </a:p>
        </p:txBody>
      </p:sp>
      <p:sp>
        <p:nvSpPr>
          <p:cNvPr id="4" name="Rectangle 3"/>
          <p:cNvSpPr/>
          <p:nvPr/>
        </p:nvSpPr>
        <p:spPr>
          <a:xfrm>
            <a:off x="640080" y="2523744"/>
            <a:ext cx="10911535" cy="512064"/>
          </a:xfrm>
          <a:prstGeom prst="rect">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3547872"/>
            <a:ext cx="10911535" cy="512064"/>
          </a:xfrm>
          <a:prstGeom prst="rect">
            <a:avLst/>
          </a:prstGeom>
          <a:solidFill>
            <a:srgbClr val="F5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4572000"/>
            <a:ext cx="10911535" cy="868680"/>
          </a:xfrm>
          <a:prstGeom prst="rect">
            <a:avLst/>
          </a:prstGeom>
          <a:solidFill>
            <a:srgbClr val="FB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60520" y="1536192"/>
            <a:ext cx="1478219" cy="237744"/>
          </a:xfrm>
          <a:prstGeom prst="rect">
            <a:avLst/>
          </a:prstGeom>
          <a:noFill/>
        </p:spPr>
        <p:txBody>
          <a:bodyPr wrap="square" lIns="0" rIns="0" tIns="0" bIns="0" anchor="t">
            <a:spAutoFit/>
          </a:bodyPr>
          <a:lstStyle/>
          <a:p>
            <a:pPr algn="ctr">
              <a:lnSpc>
                <a:spcPts val="1500"/>
              </a:lnSpc>
              <a:spcAft>
                <a:spcPts val="0"/>
              </a:spcAft>
            </a:pPr>
            <a:r>
              <a:rPr sz="1200" b="1" i="0">
                <a:solidFill>
                  <a:srgbClr val="1F2A30"/>
                </a:solidFill>
                <a:latin typeface="Calibri"/>
              </a:rPr>
              <a:t>Week 40</a:t>
            </a:r>
          </a:p>
        </p:txBody>
      </p:sp>
      <p:sp>
        <p:nvSpPr>
          <p:cNvPr id="8" name="TextBox 7"/>
          <p:cNvSpPr txBox="1"/>
          <p:nvPr/>
        </p:nvSpPr>
        <p:spPr>
          <a:xfrm>
            <a:off x="4160520" y="1764792"/>
            <a:ext cx="1478219" cy="201168"/>
          </a:xfrm>
          <a:prstGeom prst="rect">
            <a:avLst/>
          </a:prstGeom>
          <a:noFill/>
        </p:spPr>
        <p:txBody>
          <a:bodyPr wrap="square" lIns="0" rIns="0" tIns="0" bIns="0" anchor="t">
            <a:spAutoFit/>
          </a:bodyPr>
          <a:lstStyle/>
          <a:p>
            <a:pPr algn="ctr">
              <a:lnSpc>
                <a:spcPts val="1310"/>
              </a:lnSpc>
              <a:spcAft>
                <a:spcPts val="0"/>
              </a:spcAft>
            </a:pPr>
            <a:r>
              <a:rPr sz="1050" b="0" i="0">
                <a:solidFill>
                  <a:srgbClr val="5B6770"/>
                </a:solidFill>
                <a:latin typeface="Calibri"/>
              </a:rPr>
              <a:t>28 Sep</a:t>
            </a:r>
          </a:p>
        </p:txBody>
      </p:sp>
      <p:sp>
        <p:nvSpPr>
          <p:cNvPr id="9" name="TextBox 8"/>
          <p:cNvSpPr txBox="1"/>
          <p:nvPr/>
        </p:nvSpPr>
        <p:spPr>
          <a:xfrm>
            <a:off x="5638739" y="1536192"/>
            <a:ext cx="1478219" cy="237744"/>
          </a:xfrm>
          <a:prstGeom prst="rect">
            <a:avLst/>
          </a:prstGeom>
          <a:noFill/>
        </p:spPr>
        <p:txBody>
          <a:bodyPr wrap="square" lIns="0" rIns="0" tIns="0" bIns="0" anchor="t">
            <a:spAutoFit/>
          </a:bodyPr>
          <a:lstStyle/>
          <a:p>
            <a:pPr algn="ctr">
              <a:lnSpc>
                <a:spcPts val="1500"/>
              </a:lnSpc>
              <a:spcAft>
                <a:spcPts val="0"/>
              </a:spcAft>
            </a:pPr>
            <a:r>
              <a:rPr sz="1200" b="1" i="0">
                <a:solidFill>
                  <a:srgbClr val="1F2A30"/>
                </a:solidFill>
                <a:latin typeface="Calibri"/>
              </a:rPr>
              <a:t>Week 41</a:t>
            </a:r>
          </a:p>
        </p:txBody>
      </p:sp>
      <p:sp>
        <p:nvSpPr>
          <p:cNvPr id="10" name="TextBox 9"/>
          <p:cNvSpPr txBox="1"/>
          <p:nvPr/>
        </p:nvSpPr>
        <p:spPr>
          <a:xfrm>
            <a:off x="5638739" y="1764792"/>
            <a:ext cx="1478219" cy="201168"/>
          </a:xfrm>
          <a:prstGeom prst="rect">
            <a:avLst/>
          </a:prstGeom>
          <a:noFill/>
        </p:spPr>
        <p:txBody>
          <a:bodyPr wrap="square" lIns="0" rIns="0" tIns="0" bIns="0" anchor="t">
            <a:spAutoFit/>
          </a:bodyPr>
          <a:lstStyle/>
          <a:p>
            <a:pPr algn="ctr">
              <a:lnSpc>
                <a:spcPts val="1310"/>
              </a:lnSpc>
              <a:spcAft>
                <a:spcPts val="0"/>
              </a:spcAft>
            </a:pPr>
            <a:r>
              <a:rPr sz="1050" b="0" i="0">
                <a:solidFill>
                  <a:srgbClr val="5B6770"/>
                </a:solidFill>
                <a:latin typeface="Calibri"/>
              </a:rPr>
              <a:t>5 Oct</a:t>
            </a:r>
          </a:p>
        </p:txBody>
      </p:sp>
      <p:sp>
        <p:nvSpPr>
          <p:cNvPr id="11" name="TextBox 10"/>
          <p:cNvSpPr txBox="1"/>
          <p:nvPr/>
        </p:nvSpPr>
        <p:spPr>
          <a:xfrm>
            <a:off x="7116958" y="1536192"/>
            <a:ext cx="1478219" cy="237744"/>
          </a:xfrm>
          <a:prstGeom prst="rect">
            <a:avLst/>
          </a:prstGeom>
          <a:noFill/>
        </p:spPr>
        <p:txBody>
          <a:bodyPr wrap="square" lIns="0" rIns="0" tIns="0" bIns="0" anchor="t">
            <a:spAutoFit/>
          </a:bodyPr>
          <a:lstStyle/>
          <a:p>
            <a:pPr algn="ctr">
              <a:lnSpc>
                <a:spcPts val="1500"/>
              </a:lnSpc>
              <a:spcAft>
                <a:spcPts val="0"/>
              </a:spcAft>
            </a:pPr>
            <a:r>
              <a:rPr sz="1200" b="1" i="0">
                <a:solidFill>
                  <a:srgbClr val="1F2A30"/>
                </a:solidFill>
                <a:latin typeface="Calibri"/>
              </a:rPr>
              <a:t>Week 42</a:t>
            </a:r>
          </a:p>
        </p:txBody>
      </p:sp>
      <p:sp>
        <p:nvSpPr>
          <p:cNvPr id="12" name="TextBox 11"/>
          <p:cNvSpPr txBox="1"/>
          <p:nvPr/>
        </p:nvSpPr>
        <p:spPr>
          <a:xfrm>
            <a:off x="7116958" y="1764792"/>
            <a:ext cx="1478219" cy="201168"/>
          </a:xfrm>
          <a:prstGeom prst="rect">
            <a:avLst/>
          </a:prstGeom>
          <a:noFill/>
        </p:spPr>
        <p:txBody>
          <a:bodyPr wrap="square" lIns="0" rIns="0" tIns="0" bIns="0" anchor="t">
            <a:spAutoFit/>
          </a:bodyPr>
          <a:lstStyle/>
          <a:p>
            <a:pPr algn="ctr">
              <a:lnSpc>
                <a:spcPts val="1310"/>
              </a:lnSpc>
              <a:spcAft>
                <a:spcPts val="0"/>
              </a:spcAft>
            </a:pPr>
            <a:r>
              <a:rPr sz="1050" b="0" i="0">
                <a:solidFill>
                  <a:srgbClr val="5B6770"/>
                </a:solidFill>
                <a:latin typeface="Calibri"/>
              </a:rPr>
              <a:t>12 Oct</a:t>
            </a:r>
          </a:p>
        </p:txBody>
      </p:sp>
      <p:sp>
        <p:nvSpPr>
          <p:cNvPr id="13" name="TextBox 12"/>
          <p:cNvSpPr txBox="1"/>
          <p:nvPr/>
        </p:nvSpPr>
        <p:spPr>
          <a:xfrm>
            <a:off x="8595177" y="1536192"/>
            <a:ext cx="1478219" cy="237744"/>
          </a:xfrm>
          <a:prstGeom prst="rect">
            <a:avLst/>
          </a:prstGeom>
          <a:noFill/>
        </p:spPr>
        <p:txBody>
          <a:bodyPr wrap="square" lIns="0" rIns="0" tIns="0" bIns="0" anchor="t">
            <a:spAutoFit/>
          </a:bodyPr>
          <a:lstStyle/>
          <a:p>
            <a:pPr algn="ctr">
              <a:lnSpc>
                <a:spcPts val="1500"/>
              </a:lnSpc>
              <a:spcAft>
                <a:spcPts val="0"/>
              </a:spcAft>
            </a:pPr>
            <a:r>
              <a:rPr sz="1200" b="1" i="0">
                <a:solidFill>
                  <a:srgbClr val="1F2A30"/>
                </a:solidFill>
                <a:latin typeface="Calibri"/>
              </a:rPr>
              <a:t>Week 43</a:t>
            </a:r>
          </a:p>
        </p:txBody>
      </p:sp>
      <p:sp>
        <p:nvSpPr>
          <p:cNvPr id="14" name="TextBox 13"/>
          <p:cNvSpPr txBox="1"/>
          <p:nvPr/>
        </p:nvSpPr>
        <p:spPr>
          <a:xfrm>
            <a:off x="8595177" y="1764792"/>
            <a:ext cx="1478219" cy="201168"/>
          </a:xfrm>
          <a:prstGeom prst="rect">
            <a:avLst/>
          </a:prstGeom>
          <a:noFill/>
        </p:spPr>
        <p:txBody>
          <a:bodyPr wrap="square" lIns="0" rIns="0" tIns="0" bIns="0" anchor="t">
            <a:spAutoFit/>
          </a:bodyPr>
          <a:lstStyle/>
          <a:p>
            <a:pPr algn="ctr">
              <a:lnSpc>
                <a:spcPts val="1310"/>
              </a:lnSpc>
              <a:spcAft>
                <a:spcPts val="0"/>
              </a:spcAft>
            </a:pPr>
            <a:r>
              <a:rPr sz="1050" b="0" i="0">
                <a:solidFill>
                  <a:srgbClr val="5B6770"/>
                </a:solidFill>
                <a:latin typeface="Calibri"/>
              </a:rPr>
              <a:t>19 Oct</a:t>
            </a:r>
          </a:p>
        </p:txBody>
      </p:sp>
      <p:sp>
        <p:nvSpPr>
          <p:cNvPr id="15" name="TextBox 14"/>
          <p:cNvSpPr txBox="1"/>
          <p:nvPr/>
        </p:nvSpPr>
        <p:spPr>
          <a:xfrm>
            <a:off x="10073396" y="1536192"/>
            <a:ext cx="1478219" cy="237744"/>
          </a:xfrm>
          <a:prstGeom prst="rect">
            <a:avLst/>
          </a:prstGeom>
          <a:noFill/>
        </p:spPr>
        <p:txBody>
          <a:bodyPr wrap="square" lIns="0" rIns="0" tIns="0" bIns="0" anchor="t">
            <a:spAutoFit/>
          </a:bodyPr>
          <a:lstStyle/>
          <a:p>
            <a:pPr algn="ctr">
              <a:lnSpc>
                <a:spcPts val="1500"/>
              </a:lnSpc>
              <a:spcAft>
                <a:spcPts val="0"/>
              </a:spcAft>
            </a:pPr>
            <a:r>
              <a:rPr sz="1200" b="1" i="0">
                <a:solidFill>
                  <a:srgbClr val="1F2A30"/>
                </a:solidFill>
                <a:latin typeface="Calibri"/>
              </a:rPr>
              <a:t>Week 44</a:t>
            </a:r>
          </a:p>
        </p:txBody>
      </p:sp>
      <p:sp>
        <p:nvSpPr>
          <p:cNvPr id="16" name="TextBox 15"/>
          <p:cNvSpPr txBox="1"/>
          <p:nvPr/>
        </p:nvSpPr>
        <p:spPr>
          <a:xfrm>
            <a:off x="10073396" y="1764792"/>
            <a:ext cx="1478219" cy="201168"/>
          </a:xfrm>
          <a:prstGeom prst="rect">
            <a:avLst/>
          </a:prstGeom>
          <a:noFill/>
        </p:spPr>
        <p:txBody>
          <a:bodyPr wrap="square" lIns="0" rIns="0" tIns="0" bIns="0" anchor="t">
            <a:spAutoFit/>
          </a:bodyPr>
          <a:lstStyle/>
          <a:p>
            <a:pPr algn="ctr">
              <a:lnSpc>
                <a:spcPts val="1310"/>
              </a:lnSpc>
              <a:spcAft>
                <a:spcPts val="0"/>
              </a:spcAft>
            </a:pPr>
            <a:r>
              <a:rPr sz="1050" b="0" i="0">
                <a:solidFill>
                  <a:srgbClr val="5B6770"/>
                </a:solidFill>
                <a:latin typeface="Calibri"/>
              </a:rPr>
              <a:t>26 Oct</a:t>
            </a:r>
          </a:p>
        </p:txBody>
      </p:sp>
      <p:sp>
        <p:nvSpPr>
          <p:cNvPr id="17" name="Rectangle 16"/>
          <p:cNvSpPr/>
          <p:nvPr/>
        </p:nvSpPr>
        <p:spPr>
          <a:xfrm>
            <a:off x="4155033"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33252"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11471"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89690"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067909"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546128" y="2011680"/>
            <a:ext cx="10972" cy="3429000"/>
          </a:xfrm>
          <a:prstGeom prst="rect">
            <a:avLst/>
          </a:prstGeom>
          <a:solidFill>
            <a:srgbClr val="D5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2011680"/>
            <a:ext cx="3291839" cy="512064"/>
          </a:xfrm>
          <a:prstGeom prst="rect">
            <a:avLst/>
          </a:prstGeom>
          <a:noFill/>
        </p:spPr>
        <p:txBody>
          <a:bodyPr wrap="square" lIns="0" rIns="0" tIns="0" bIns="0" anchor="ctr">
            <a:spAutoFit/>
          </a:bodyPr>
          <a:lstStyle/>
          <a:p>
            <a:pPr algn="l">
              <a:lnSpc>
                <a:spcPts val="1560"/>
              </a:lnSpc>
              <a:spcAft>
                <a:spcPts val="0"/>
              </a:spcAft>
            </a:pPr>
            <a:r>
              <a:rPr sz="1250" b="0" i="0">
                <a:solidFill>
                  <a:srgbClr val="1F2A30"/>
                </a:solidFill>
                <a:latin typeface="Calibri"/>
              </a:rPr>
              <a:t>Scope, outline and literature review</a:t>
            </a:r>
          </a:p>
        </p:txBody>
      </p:sp>
      <p:sp>
        <p:nvSpPr>
          <p:cNvPr id="24" name="Rounded Rectangle 23"/>
          <p:cNvSpPr/>
          <p:nvPr/>
        </p:nvSpPr>
        <p:spPr>
          <a:xfrm>
            <a:off x="4233672" y="2157984"/>
            <a:ext cx="1331915" cy="219456"/>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2523744"/>
            <a:ext cx="3291839" cy="512064"/>
          </a:xfrm>
          <a:prstGeom prst="rect">
            <a:avLst/>
          </a:prstGeom>
          <a:noFill/>
        </p:spPr>
        <p:txBody>
          <a:bodyPr wrap="square" lIns="0" rIns="0" tIns="0" bIns="0" anchor="ctr">
            <a:spAutoFit/>
          </a:bodyPr>
          <a:lstStyle/>
          <a:p>
            <a:pPr algn="l">
              <a:lnSpc>
                <a:spcPts val="1560"/>
              </a:lnSpc>
              <a:spcAft>
                <a:spcPts val="0"/>
              </a:spcAft>
            </a:pPr>
            <a:r>
              <a:rPr sz="1250" b="0" i="0">
                <a:solidFill>
                  <a:srgbClr val="1F2A30"/>
                </a:solidFill>
                <a:latin typeface="Calibri"/>
              </a:rPr>
              <a:t>Ch. 3: the Global Gas Model</a:t>
            </a:r>
          </a:p>
        </p:txBody>
      </p:sp>
      <p:sp>
        <p:nvSpPr>
          <p:cNvPr id="26" name="Rounded Rectangle 25"/>
          <p:cNvSpPr/>
          <p:nvPr/>
        </p:nvSpPr>
        <p:spPr>
          <a:xfrm>
            <a:off x="5711891" y="2670048"/>
            <a:ext cx="1331915" cy="219456"/>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035808"/>
            <a:ext cx="3291839" cy="512064"/>
          </a:xfrm>
          <a:prstGeom prst="rect">
            <a:avLst/>
          </a:prstGeom>
          <a:noFill/>
        </p:spPr>
        <p:txBody>
          <a:bodyPr wrap="square" lIns="0" rIns="0" tIns="0" bIns="0" anchor="ctr">
            <a:spAutoFit/>
          </a:bodyPr>
          <a:lstStyle/>
          <a:p>
            <a:pPr algn="l">
              <a:lnSpc>
                <a:spcPts val="1560"/>
              </a:lnSpc>
              <a:spcAft>
                <a:spcPts val="0"/>
              </a:spcAft>
            </a:pPr>
            <a:r>
              <a:rPr sz="1250" b="0" i="0">
                <a:solidFill>
                  <a:srgbClr val="1F2A30"/>
                </a:solidFill>
                <a:latin typeface="Calibri"/>
              </a:rPr>
              <a:t>Ch. 4: LLM agents</a:t>
            </a:r>
          </a:p>
        </p:txBody>
      </p:sp>
      <p:sp>
        <p:nvSpPr>
          <p:cNvPr id="28" name="Rounded Rectangle 27"/>
          <p:cNvSpPr/>
          <p:nvPr/>
        </p:nvSpPr>
        <p:spPr>
          <a:xfrm>
            <a:off x="7190110" y="3182112"/>
            <a:ext cx="1331915" cy="219456"/>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9808" y="3547872"/>
            <a:ext cx="3291839" cy="512064"/>
          </a:xfrm>
          <a:prstGeom prst="rect">
            <a:avLst/>
          </a:prstGeom>
          <a:noFill/>
        </p:spPr>
        <p:txBody>
          <a:bodyPr wrap="square" lIns="0" rIns="0" tIns="0" bIns="0" anchor="ctr">
            <a:spAutoFit/>
          </a:bodyPr>
          <a:lstStyle/>
          <a:p>
            <a:pPr algn="l">
              <a:lnSpc>
                <a:spcPts val="1560"/>
              </a:lnSpc>
              <a:spcAft>
                <a:spcPts val="0"/>
              </a:spcAft>
            </a:pPr>
            <a:r>
              <a:rPr sz="1250" b="0" i="0">
                <a:solidFill>
                  <a:srgbClr val="1F2A30"/>
                </a:solidFill>
                <a:latin typeface="Calibri"/>
              </a:rPr>
              <a:t>Ch. 5: where AI fits</a:t>
            </a:r>
          </a:p>
        </p:txBody>
      </p:sp>
      <p:sp>
        <p:nvSpPr>
          <p:cNvPr id="30" name="Rounded Rectangle 29"/>
          <p:cNvSpPr/>
          <p:nvPr/>
        </p:nvSpPr>
        <p:spPr>
          <a:xfrm>
            <a:off x="8668329" y="3694176"/>
            <a:ext cx="1331915" cy="219456"/>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4059936"/>
            <a:ext cx="3291839" cy="512064"/>
          </a:xfrm>
          <a:prstGeom prst="rect">
            <a:avLst/>
          </a:prstGeom>
          <a:noFill/>
        </p:spPr>
        <p:txBody>
          <a:bodyPr wrap="square" lIns="0" rIns="0" tIns="0" bIns="0" anchor="ctr">
            <a:spAutoFit/>
          </a:bodyPr>
          <a:lstStyle/>
          <a:p>
            <a:pPr algn="l">
              <a:lnSpc>
                <a:spcPts val="1560"/>
              </a:lnSpc>
              <a:spcAft>
                <a:spcPts val="0"/>
              </a:spcAft>
            </a:pPr>
            <a:r>
              <a:rPr sz="1250" b="0" i="0">
                <a:solidFill>
                  <a:srgbClr val="1F2A30"/>
                </a:solidFill>
                <a:latin typeface="Calibri"/>
              </a:rPr>
              <a:t>Closing chapters and introduction</a:t>
            </a:r>
          </a:p>
        </p:txBody>
      </p:sp>
      <p:sp>
        <p:nvSpPr>
          <p:cNvPr id="32" name="Rounded Rectangle 31"/>
          <p:cNvSpPr/>
          <p:nvPr/>
        </p:nvSpPr>
        <p:spPr>
          <a:xfrm>
            <a:off x="10146548" y="4206240"/>
            <a:ext cx="1331915" cy="219456"/>
          </a:xfrm>
          <a:prstGeom prst="roundRect">
            <a:avLst>
              <a:gd name="adj" fmla="val 50000"/>
            </a:avLst>
          </a:prstGeom>
          <a:solidFill>
            <a:srgbClr val="1F5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4572000"/>
            <a:ext cx="3291839" cy="868680"/>
          </a:xfrm>
          <a:prstGeom prst="rect">
            <a:avLst/>
          </a:prstGeom>
          <a:noFill/>
        </p:spPr>
        <p:txBody>
          <a:bodyPr wrap="square" lIns="0" rIns="0" tIns="0" bIns="0" anchor="ctr">
            <a:spAutoFit/>
          </a:bodyPr>
          <a:lstStyle/>
          <a:p>
            <a:pPr algn="l">
              <a:lnSpc>
                <a:spcPts val="1500"/>
              </a:lnSpc>
              <a:spcAft>
                <a:spcPts val="0"/>
              </a:spcAft>
            </a:pPr>
            <a:r>
              <a:rPr sz="1250" b="1" i="0">
                <a:solidFill>
                  <a:srgbClr val="9C5214"/>
                </a:solidFill>
                <a:latin typeface="Calibri"/>
              </a:rPr>
              <a:t>Milestone by the end of the week</a:t>
            </a:r>
          </a:p>
        </p:txBody>
      </p:sp>
      <p:sp>
        <p:nvSpPr>
          <p:cNvPr id="34" name="Diamond 33"/>
          <p:cNvSpPr/>
          <p:nvPr/>
        </p:nvSpPr>
        <p:spPr>
          <a:xfrm>
            <a:off x="4780757" y="4663440"/>
            <a:ext cx="237744" cy="237744"/>
          </a:xfrm>
          <a:prstGeom prst="diamond">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33672" y="4956048"/>
            <a:ext cx="1331915" cy="438912"/>
          </a:xfrm>
          <a:prstGeom prst="rect">
            <a:avLst/>
          </a:prstGeom>
          <a:noFill/>
        </p:spPr>
        <p:txBody>
          <a:bodyPr wrap="square" lIns="0" rIns="0" tIns="0" bIns="0" anchor="t">
            <a:spAutoFit/>
          </a:bodyPr>
          <a:lstStyle/>
          <a:p>
            <a:pPr algn="ctr">
              <a:lnSpc>
                <a:spcPts val="1300"/>
              </a:lnSpc>
              <a:spcAft>
                <a:spcPts val="0"/>
              </a:spcAft>
            </a:pPr>
            <a:r>
              <a:rPr sz="1100" b="0" i="0">
                <a:solidFill>
                  <a:srgbClr val="1F2A30"/>
                </a:solidFill>
                <a:latin typeface="Calibri"/>
              </a:rPr>
              <a:t>Outline and literature review drafted</a:t>
            </a:r>
          </a:p>
        </p:txBody>
      </p:sp>
      <p:sp>
        <p:nvSpPr>
          <p:cNvPr id="36" name="Diamond 35"/>
          <p:cNvSpPr/>
          <p:nvPr/>
        </p:nvSpPr>
        <p:spPr>
          <a:xfrm>
            <a:off x="6258976" y="4663440"/>
            <a:ext cx="237744" cy="237744"/>
          </a:xfrm>
          <a:prstGeom prst="diamond">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11891" y="4956048"/>
            <a:ext cx="1331915" cy="438912"/>
          </a:xfrm>
          <a:prstGeom prst="rect">
            <a:avLst/>
          </a:prstGeom>
          <a:noFill/>
        </p:spPr>
        <p:txBody>
          <a:bodyPr wrap="square" lIns="0" rIns="0" tIns="0" bIns="0" anchor="t">
            <a:spAutoFit/>
          </a:bodyPr>
          <a:lstStyle/>
          <a:p>
            <a:pPr algn="ctr">
              <a:lnSpc>
                <a:spcPts val="1300"/>
              </a:lnSpc>
              <a:spcAft>
                <a:spcPts val="0"/>
              </a:spcAft>
            </a:pPr>
            <a:r>
              <a:rPr sz="1100" b="0" i="0">
                <a:solidFill>
                  <a:srgbClr val="1F2A30"/>
                </a:solidFill>
                <a:latin typeface="Calibri"/>
              </a:rPr>
              <a:t>Chapter 3 drafted</a:t>
            </a:r>
          </a:p>
        </p:txBody>
      </p:sp>
      <p:sp>
        <p:nvSpPr>
          <p:cNvPr id="38" name="Diamond 37"/>
          <p:cNvSpPr/>
          <p:nvPr/>
        </p:nvSpPr>
        <p:spPr>
          <a:xfrm>
            <a:off x="7737195" y="4663440"/>
            <a:ext cx="237744" cy="237744"/>
          </a:xfrm>
          <a:prstGeom prst="diamond">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90110" y="4956048"/>
            <a:ext cx="1331915" cy="438912"/>
          </a:xfrm>
          <a:prstGeom prst="rect">
            <a:avLst/>
          </a:prstGeom>
          <a:noFill/>
        </p:spPr>
        <p:txBody>
          <a:bodyPr wrap="square" lIns="0" rIns="0" tIns="0" bIns="0" anchor="t">
            <a:spAutoFit/>
          </a:bodyPr>
          <a:lstStyle/>
          <a:p>
            <a:pPr algn="ctr">
              <a:lnSpc>
                <a:spcPts val="1300"/>
              </a:lnSpc>
              <a:spcAft>
                <a:spcPts val="0"/>
              </a:spcAft>
            </a:pPr>
            <a:r>
              <a:rPr sz="1100" b="0" i="0">
                <a:solidFill>
                  <a:srgbClr val="1F2A30"/>
                </a:solidFill>
                <a:latin typeface="Calibri"/>
              </a:rPr>
              <a:t>Chapter 4 drafted</a:t>
            </a:r>
          </a:p>
        </p:txBody>
      </p:sp>
      <p:sp>
        <p:nvSpPr>
          <p:cNvPr id="40" name="Diamond 39"/>
          <p:cNvSpPr/>
          <p:nvPr/>
        </p:nvSpPr>
        <p:spPr>
          <a:xfrm>
            <a:off x="9215414" y="4663440"/>
            <a:ext cx="237744" cy="237744"/>
          </a:xfrm>
          <a:prstGeom prst="diamond">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68329" y="4956048"/>
            <a:ext cx="1331915" cy="438912"/>
          </a:xfrm>
          <a:prstGeom prst="rect">
            <a:avLst/>
          </a:prstGeom>
          <a:noFill/>
        </p:spPr>
        <p:txBody>
          <a:bodyPr wrap="square" lIns="0" rIns="0" tIns="0" bIns="0" anchor="t">
            <a:spAutoFit/>
          </a:bodyPr>
          <a:lstStyle/>
          <a:p>
            <a:pPr algn="ctr">
              <a:lnSpc>
                <a:spcPts val="1300"/>
              </a:lnSpc>
              <a:spcAft>
                <a:spcPts val="0"/>
              </a:spcAft>
            </a:pPr>
            <a:r>
              <a:rPr sz="1100" b="0" i="0">
                <a:solidFill>
                  <a:srgbClr val="1F2A30"/>
                </a:solidFill>
                <a:latin typeface="Calibri"/>
              </a:rPr>
              <a:t>Chapter 5 drafted</a:t>
            </a:r>
          </a:p>
        </p:txBody>
      </p:sp>
      <p:sp>
        <p:nvSpPr>
          <p:cNvPr id="42" name="Diamond 41"/>
          <p:cNvSpPr/>
          <p:nvPr/>
        </p:nvSpPr>
        <p:spPr>
          <a:xfrm>
            <a:off x="10693633" y="4663440"/>
            <a:ext cx="237744" cy="237744"/>
          </a:xfrm>
          <a:prstGeom prst="diamond">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46548" y="4956048"/>
            <a:ext cx="1331915" cy="438912"/>
          </a:xfrm>
          <a:prstGeom prst="rect">
            <a:avLst/>
          </a:prstGeom>
          <a:noFill/>
        </p:spPr>
        <p:txBody>
          <a:bodyPr wrap="square" lIns="0" rIns="0" tIns="0" bIns="0" anchor="t">
            <a:spAutoFit/>
          </a:bodyPr>
          <a:lstStyle/>
          <a:p>
            <a:pPr algn="ctr">
              <a:lnSpc>
                <a:spcPts val="1300"/>
              </a:lnSpc>
              <a:spcAft>
                <a:spcPts val="0"/>
              </a:spcAft>
            </a:pPr>
            <a:r>
              <a:rPr sz="1100" b="1" i="0">
                <a:solidFill>
                  <a:srgbClr val="9C5214"/>
                </a:solidFill>
                <a:latin typeface="Calibri"/>
              </a:rPr>
              <a:t>First full draft, 31 Oct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thesis: proposed structure and October plan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