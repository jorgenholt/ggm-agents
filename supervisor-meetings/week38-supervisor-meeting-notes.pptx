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point: the documentation work isn't overhead, it's the context layer the agents will need later. Also flag that the configuration picture is our reading, not confirmed.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working towards a thesis, not just reading. Ask for a reaction to the overall shape rather than the detail. A small proof of concept could sit between 5 and 6 if they want.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hardest on 1 and 2. Several things we've written down depend on the four-kinds reading being right. Question 2 matters most for the thesis — the whole premise rests on what that expert burden actually consists of.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37744"/>
          </a:xfrm>
          <a:prstGeom prst="rect">
            <a:avLst/>
          </a:prstGeom>
          <a:noFill/>
        </p:spPr>
        <p:txBody>
          <a:bodyPr wrap="none" lIns="0" rIns="0" tIns="0" bIns="0">
            <a:spAutoFit/>
          </a:bodyPr>
          <a:lstStyle/>
          <a:p>
            <a:r>
              <a:rPr sz="1300" b="0">
                <a:solidFill>
                  <a:srgbClr val="666666"/>
                </a:solidFill>
                <a:latin typeface="Calibri"/>
              </a:rPr>
              <a:t>Week 38</a:t>
            </a:r>
          </a:p>
        </p:txBody>
      </p:sp>
      <p:sp>
        <p:nvSpPr>
          <p:cNvPr id="3" name="TextBox 2"/>
          <p:cNvSpPr txBox="1"/>
          <p:nvPr/>
        </p:nvSpPr>
        <p:spPr>
          <a:xfrm>
            <a:off x="731520" y="621792"/>
            <a:ext cx="10698480" cy="457200"/>
          </a:xfrm>
          <a:prstGeom prst="rect">
            <a:avLst/>
          </a:prstGeom>
          <a:noFill/>
        </p:spPr>
        <p:txBody>
          <a:bodyPr wrap="square" lIns="0" rIns="0" tIns="0" bIns="0">
            <a:spAutoFit/>
          </a:bodyPr>
          <a:lstStyle/>
          <a:p>
            <a:r>
              <a:rPr sz="2700" b="1">
                <a:solidFill>
                  <a:srgbClr val="262626"/>
                </a:solidFill>
                <a:latin typeface="Calibri"/>
              </a:rPr>
              <a:t>What we've done so far</a:t>
            </a:r>
          </a:p>
        </p:txBody>
      </p:sp>
      <p:sp>
        <p:nvSpPr>
          <p:cNvPr id="4" name="TextBox 3"/>
          <p:cNvSpPr txBox="1"/>
          <p:nvPr/>
        </p:nvSpPr>
        <p:spPr>
          <a:xfrm>
            <a:off x="731520" y="1371600"/>
            <a:ext cx="10698480" cy="4389120"/>
          </a:xfrm>
          <a:prstGeom prst="rect">
            <a:avLst/>
          </a:prstGeom>
          <a:noFill/>
        </p:spPr>
        <p:txBody>
          <a:bodyPr wrap="square" lIns="0" rIns="0" tIns="0" bIns="0">
            <a:spAutoFit/>
          </a:bodyPr>
          <a:lstStyle/>
          <a:p>
            <a:pPr algn="l" marL="182880" indent="-182880">
              <a:lnSpc>
                <a:spcPts val="1900"/>
              </a:lnSpc>
              <a:spcAft>
                <a:spcPts val="600"/>
              </a:spcAft>
              <a:buNone/>
            </a:pPr>
            <a:r>
              <a:rPr sz="1400" b="0" i="0">
                <a:solidFill>
                  <a:srgbClr val="262626"/>
                </a:solidFill>
                <a:latin typeface="Calibri"/>
              </a:rPr>
              <a:t>–  Read the lectures. Lukas's outline in the email made sense to us — it's fairly conceptual, so that level was enough to follow.</a:t>
            </a:r>
          </a:p>
          <a:p>
            <a:pPr algn="l" marL="182880" indent="-182880">
              <a:lnSpc>
                <a:spcPts val="1900"/>
              </a:lnSpc>
              <a:spcAft>
                <a:spcPts val="600"/>
              </a:spcAft>
              <a:buNone/>
            </a:pPr>
            <a:r>
              <a:rPr sz="1400" b="0" i="0">
                <a:solidFill>
                  <a:srgbClr val="262626"/>
                </a:solidFill>
                <a:latin typeface="Calibri"/>
              </a:rPr>
              <a:t>–  Then we went into the repo, and that turned out to be a different thing entirely. Understanding the lectures and understanding the code are not the same skill.</a:t>
            </a:r>
          </a:p>
          <a:p>
            <a:pPr algn="l" marL="182880" indent="-182880">
              <a:lnSpc>
                <a:spcPts val="1900"/>
              </a:lnSpc>
              <a:spcAft>
                <a:spcPts val="600"/>
              </a:spcAft>
              <a:buNone/>
            </a:pPr>
            <a:r>
              <a:rPr sz="1400" b="0" i="0">
                <a:solidFill>
                  <a:srgbClr val="262626"/>
                </a:solidFill>
                <a:latin typeface="Calibri"/>
              </a:rPr>
              <a:t>–  So once the concepts felt OK, we moved to what's actually relevant for us: how the model gets configured.</a:t>
            </a:r>
          </a:p>
          <a:p>
            <a:pPr algn="l" marL="182880" indent="-182880">
              <a:lnSpc>
                <a:spcPts val="1900"/>
              </a:lnSpc>
              <a:spcAft>
                <a:spcPts val="600"/>
              </a:spcAft>
              <a:buNone/>
            </a:pPr>
            <a:r>
              <a:rPr sz="1400" b="0" i="0">
                <a:solidFill>
                  <a:srgbClr val="262626"/>
                </a:solidFill>
                <a:latin typeface="Calibri"/>
              </a:rPr>
              <a:t>–  A fair bit of that is inferred from the documentation and the repo rather than confirmed by anyone, so we'd like to check with you whether we've got the gist. More on the last slide.</a:t>
            </a:r>
          </a:p>
          <a:p>
            <a:pPr algn="l" marL="182880" indent="-182880">
              <a:lnSpc>
                <a:spcPts val="1900"/>
              </a:lnSpc>
              <a:spcAft>
                <a:spcPts val="600"/>
              </a:spcAft>
              <a:buNone/>
            </a:pPr>
            <a:r>
              <a:rPr sz="1400" b="0" i="0">
                <a:solidFill>
                  <a:srgbClr val="262626"/>
                </a:solidFill>
                <a:latin typeface="Calibri"/>
              </a:rPr>
              <a:t>–  Technical setup is done — repo, submodule, environment, how we work together.</a:t>
            </a:r>
          </a:p>
          <a:p>
            <a:pPr algn="l" marL="182880" indent="-182880">
              <a:lnSpc>
                <a:spcPts val="1900"/>
              </a:lnSpc>
              <a:spcAft>
                <a:spcPts val="600"/>
              </a:spcAft>
              <a:buNone/>
            </a:pPr>
            <a:r>
              <a:rPr sz="1400" b="0" i="0">
                <a:solidFill>
                  <a:srgbClr val="262626"/>
                </a:solidFill>
                <a:latin typeface="Calibri"/>
              </a:rPr>
              <a:t>–  Most of our time went into writing down how the model works. Two reasons: we can't just hand an agent the GGM documentation and the repo — it needs context the same way we did. And it keeps our own understanding written down, so we can correct it as we learn more instead of re-deriving it every 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37744"/>
          </a:xfrm>
          <a:prstGeom prst="rect">
            <a:avLst/>
          </a:prstGeom>
          <a:noFill/>
        </p:spPr>
        <p:txBody>
          <a:bodyPr wrap="none" lIns="0" rIns="0" tIns="0" bIns="0">
            <a:spAutoFit/>
          </a:bodyPr>
          <a:lstStyle/>
          <a:p>
            <a:r>
              <a:rPr sz="1300" b="0">
                <a:solidFill>
                  <a:srgbClr val="666666"/>
                </a:solidFill>
                <a:latin typeface="Calibri"/>
              </a:rPr>
              <a:t>Week 38</a:t>
            </a:r>
          </a:p>
        </p:txBody>
      </p:sp>
      <p:sp>
        <p:nvSpPr>
          <p:cNvPr id="3" name="TextBox 2"/>
          <p:cNvSpPr txBox="1"/>
          <p:nvPr/>
        </p:nvSpPr>
        <p:spPr>
          <a:xfrm>
            <a:off x="731520" y="621792"/>
            <a:ext cx="10698480" cy="457200"/>
          </a:xfrm>
          <a:prstGeom prst="rect">
            <a:avLst/>
          </a:prstGeom>
          <a:noFill/>
        </p:spPr>
        <p:txBody>
          <a:bodyPr wrap="square" lIns="0" rIns="0" tIns="0" bIns="0">
            <a:spAutoFit/>
          </a:bodyPr>
          <a:lstStyle/>
          <a:p>
            <a:r>
              <a:rPr sz="2700" b="1">
                <a:solidFill>
                  <a:srgbClr val="262626"/>
                </a:solidFill>
                <a:latin typeface="Calibri"/>
              </a:rPr>
              <a:t>Proposed thesis structure (draft)</a:t>
            </a:r>
          </a:p>
        </p:txBody>
      </p:sp>
      <p:sp>
        <p:nvSpPr>
          <p:cNvPr id="4" name="TextBox 3"/>
          <p:cNvSpPr txBox="1"/>
          <p:nvPr/>
        </p:nvSpPr>
        <p:spPr>
          <a:xfrm>
            <a:off x="731520" y="1325880"/>
            <a:ext cx="10698480" cy="731520"/>
          </a:xfrm>
          <a:prstGeom prst="rect">
            <a:avLst/>
          </a:prstGeom>
          <a:noFill/>
        </p:spPr>
        <p:txBody>
          <a:bodyPr wrap="square" lIns="0" rIns="0" tIns="0" bIns="0">
            <a:spAutoFit/>
          </a:bodyPr>
          <a:lstStyle/>
          <a:p>
            <a:pPr algn="l">
              <a:lnSpc>
                <a:spcPts val="1900"/>
              </a:lnSpc>
              <a:spcAft>
                <a:spcPts val="600"/>
              </a:spcAft>
            </a:pPr>
            <a:r>
              <a:rPr sz="1400" b="1" i="0">
                <a:solidFill>
                  <a:srgbClr val="262626"/>
                </a:solidFill>
                <a:latin typeface="Calibri"/>
              </a:rPr>
              <a:t>Rough version of the argument: </a:t>
            </a:r>
            <a:r>
              <a:rPr sz="1400" b="0" i="0">
                <a:solidFill>
                  <a:srgbClr val="262626"/>
                </a:solidFill>
                <a:latin typeface="Calibri"/>
              </a:rPr>
              <a:t>GGM's workflow has a real expert burden. Some of it probably suits an agent, some is better as ordinary code, and some shouldn't be automated at all. Working out which is which is the thesis.</a:t>
            </a:r>
          </a:p>
        </p:txBody>
      </p:sp>
      <p:sp>
        <p:nvSpPr>
          <p:cNvPr id="5" name="TextBox 4"/>
          <p:cNvSpPr txBox="1"/>
          <p:nvPr/>
        </p:nvSpPr>
        <p:spPr>
          <a:xfrm>
            <a:off x="960120" y="2377440"/>
            <a:ext cx="10469880" cy="2468880"/>
          </a:xfrm>
          <a:prstGeom prst="rect">
            <a:avLst/>
          </a:prstGeom>
          <a:noFill/>
        </p:spPr>
        <p:txBody>
          <a:bodyPr wrap="square" lIns="0" rIns="0" tIns="0" bIns="0">
            <a:spAutoFit/>
          </a:bodyPr>
          <a:lstStyle/>
          <a:p>
            <a:pPr algn="l">
              <a:lnSpc>
                <a:spcPts val="2100"/>
              </a:lnSpc>
              <a:spcAft>
                <a:spcPts val="800"/>
              </a:spcAft>
            </a:pPr>
            <a:r>
              <a:rPr sz="1500" b="1" i="0">
                <a:solidFill>
                  <a:srgbClr val="262626"/>
                </a:solidFill>
                <a:latin typeface="Calibri"/>
              </a:rPr>
              <a:t>1.  Introduction</a:t>
            </a:r>
          </a:p>
          <a:p>
            <a:pPr algn="l">
              <a:lnSpc>
                <a:spcPts val="2100"/>
              </a:lnSpc>
              <a:spcAft>
                <a:spcPts val="800"/>
              </a:spcAft>
            </a:pPr>
            <a:r>
              <a:rPr sz="1500" b="1" i="0">
                <a:solidFill>
                  <a:srgbClr val="262626"/>
                </a:solidFill>
                <a:latin typeface="Calibri"/>
              </a:rPr>
              <a:t>2.  The Global Gas Model</a:t>
            </a:r>
            <a:r>
              <a:rPr sz="1500" b="0" i="0">
                <a:solidFill>
                  <a:srgbClr val="666666"/>
                </a:solidFill>
                <a:latin typeface="Calibri"/>
              </a:rPr>
              <a:t>   —  what it is, and where the manual work goes</a:t>
            </a:r>
          </a:p>
          <a:p>
            <a:pPr algn="l">
              <a:lnSpc>
                <a:spcPts val="2100"/>
              </a:lnSpc>
              <a:spcAft>
                <a:spcPts val="800"/>
              </a:spcAft>
            </a:pPr>
            <a:r>
              <a:rPr sz="1500" b="1" i="0">
                <a:solidFill>
                  <a:srgbClr val="262626"/>
                </a:solidFill>
                <a:latin typeface="Calibri"/>
              </a:rPr>
              <a:t>3.  LLM agents</a:t>
            </a:r>
            <a:r>
              <a:rPr sz="1500" b="0" i="0">
                <a:solidFill>
                  <a:srgbClr val="666666"/>
                </a:solidFill>
                <a:latin typeface="Calibri"/>
              </a:rPr>
              <a:t>   —  what they're good at, what they're not</a:t>
            </a:r>
          </a:p>
          <a:p>
            <a:pPr algn="l">
              <a:lnSpc>
                <a:spcPts val="2100"/>
              </a:lnSpc>
              <a:spcAft>
                <a:spcPts val="800"/>
              </a:spcAft>
            </a:pPr>
            <a:r>
              <a:rPr sz="1500" b="1" i="0">
                <a:solidFill>
                  <a:srgbClr val="262626"/>
                </a:solidFill>
                <a:latin typeface="Calibri"/>
              </a:rPr>
              <a:t>4.  Related work</a:t>
            </a:r>
            <a:r>
              <a:rPr sz="1500" b="0" i="0">
                <a:solidFill>
                  <a:srgbClr val="666666"/>
                </a:solidFill>
                <a:latin typeface="Calibri"/>
              </a:rPr>
              <a:t>   —  who's tried this on other models</a:t>
            </a:r>
          </a:p>
          <a:p>
            <a:pPr algn="l">
              <a:lnSpc>
                <a:spcPts val="2100"/>
              </a:lnSpc>
              <a:spcAft>
                <a:spcPts val="800"/>
              </a:spcAft>
            </a:pPr>
            <a:r>
              <a:rPr sz="1500" b="1" i="0">
                <a:solidFill>
                  <a:srgbClr val="262626"/>
                </a:solidFill>
                <a:latin typeface="Calibri"/>
              </a:rPr>
              <a:t>5.  Which GGM tasks fit</a:t>
            </a:r>
            <a:r>
              <a:rPr sz="1500" b="0" i="0">
                <a:solidFill>
                  <a:srgbClr val="666666"/>
                </a:solidFill>
                <a:latin typeface="Calibri"/>
              </a:rPr>
              <a:t>   —  this is the main one</a:t>
            </a:r>
          </a:p>
          <a:p>
            <a:pPr algn="l">
              <a:lnSpc>
                <a:spcPts val="2100"/>
              </a:lnSpc>
              <a:spcAft>
                <a:spcPts val="800"/>
              </a:spcAft>
            </a:pPr>
            <a:r>
              <a:rPr sz="1500" b="1" i="0">
                <a:solidFill>
                  <a:srgbClr val="262626"/>
                </a:solidFill>
                <a:latin typeface="Calibri"/>
              </a:rPr>
              <a:t>6.  Conclusion</a:t>
            </a:r>
            <a:r>
              <a:rPr sz="1500" b="0" i="0">
                <a:solidFill>
                  <a:srgbClr val="666666"/>
                </a:solidFill>
                <a:latin typeface="Calibri"/>
              </a:rPr>
              <a:t>   —  what we'd build in the master's</a:t>
            </a:r>
          </a:p>
        </p:txBody>
      </p:sp>
      <p:sp>
        <p:nvSpPr>
          <p:cNvPr id="6" name="TextBox 5"/>
          <p:cNvSpPr txBox="1"/>
          <p:nvPr/>
        </p:nvSpPr>
        <p:spPr>
          <a:xfrm>
            <a:off x="731520" y="5029200"/>
            <a:ext cx="10698480" cy="1188720"/>
          </a:xfrm>
          <a:prstGeom prst="rect">
            <a:avLst/>
          </a:prstGeom>
          <a:noFill/>
        </p:spPr>
        <p:txBody>
          <a:bodyPr wrap="square" lIns="0" rIns="0" tIns="0" bIns="0">
            <a:spAutoFit/>
          </a:bodyPr>
          <a:lstStyle/>
          <a:p>
            <a:pPr algn="l">
              <a:lnSpc>
                <a:spcPts val="1900"/>
              </a:lnSpc>
              <a:spcAft>
                <a:spcPts val="600"/>
              </a:spcAft>
            </a:pPr>
            <a:r>
              <a:rPr sz="1400" b="0" i="0">
                <a:solidFill>
                  <a:srgbClr val="262626"/>
                </a:solidFill>
                <a:latin typeface="Calibri"/>
              </a:rPr>
              <a:t>We've started on a more detailed version of this. Rather than asking you “what should go in the GGM chapter”, we'd rather write up a proper outline and bring it to you — easier for you to react to, and you get to see what we're actually thinking. Hoping to have that ready over the coming week.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37744"/>
          </a:xfrm>
          <a:prstGeom prst="rect">
            <a:avLst/>
          </a:prstGeom>
          <a:noFill/>
        </p:spPr>
        <p:txBody>
          <a:bodyPr wrap="none" lIns="0" rIns="0" tIns="0" bIns="0">
            <a:spAutoFit/>
          </a:bodyPr>
          <a:lstStyle/>
          <a:p>
            <a:r>
              <a:rPr sz="1300" b="0">
                <a:solidFill>
                  <a:srgbClr val="666666"/>
                </a:solidFill>
                <a:latin typeface="Calibri"/>
              </a:rPr>
              <a:t>Week 38</a:t>
            </a:r>
          </a:p>
        </p:txBody>
      </p:sp>
      <p:sp>
        <p:nvSpPr>
          <p:cNvPr id="3" name="TextBox 2"/>
          <p:cNvSpPr txBox="1"/>
          <p:nvPr/>
        </p:nvSpPr>
        <p:spPr>
          <a:xfrm>
            <a:off x="731520" y="621792"/>
            <a:ext cx="10698480" cy="457200"/>
          </a:xfrm>
          <a:prstGeom prst="rect">
            <a:avLst/>
          </a:prstGeom>
          <a:noFill/>
        </p:spPr>
        <p:txBody>
          <a:bodyPr wrap="square" lIns="0" rIns="0" tIns="0" bIns="0">
            <a:spAutoFit/>
          </a:bodyPr>
          <a:lstStyle/>
          <a:p>
            <a:r>
              <a:rPr sz="2700" b="1">
                <a:solidFill>
                  <a:srgbClr val="262626"/>
                </a:solidFill>
                <a:latin typeface="Calibri"/>
              </a:rPr>
              <a:t>What we'd like from you</a:t>
            </a:r>
          </a:p>
        </p:txBody>
      </p:sp>
      <p:sp>
        <p:nvSpPr>
          <p:cNvPr id="4" name="TextBox 3"/>
          <p:cNvSpPr txBox="1"/>
          <p:nvPr/>
        </p:nvSpPr>
        <p:spPr>
          <a:xfrm>
            <a:off x="731520" y="1325880"/>
            <a:ext cx="10698480" cy="2286000"/>
          </a:xfrm>
          <a:prstGeom prst="rect">
            <a:avLst/>
          </a:prstGeom>
          <a:noFill/>
        </p:spPr>
        <p:txBody>
          <a:bodyPr wrap="square" lIns="0" rIns="0" tIns="0" bIns="0">
            <a:spAutoFit/>
          </a:bodyPr>
          <a:lstStyle/>
          <a:p>
            <a:pPr algn="l">
              <a:lnSpc>
                <a:spcPts val="1800"/>
              </a:lnSpc>
              <a:spcAft>
                <a:spcPts val="300"/>
              </a:spcAft>
            </a:pPr>
            <a:r>
              <a:rPr sz="1600" b="1" i="0">
                <a:solidFill>
                  <a:srgbClr val="262626"/>
                </a:solidFill>
                <a:latin typeface="Calibri"/>
              </a:rPr>
              <a:t>1.  Have we understood the configuration correctly?</a:t>
            </a:r>
          </a:p>
          <a:p>
            <a:pPr algn="l">
              <a:lnSpc>
                <a:spcPts val="1800"/>
              </a:lnSpc>
              <a:spcAft>
                <a:spcPts val="300"/>
              </a:spcAft>
            </a:pPr>
            <a:r>
              <a:rPr sz="1350" b="0" i="0">
                <a:solidFill>
                  <a:srgbClr val="262626"/>
                </a:solidFill>
                <a:latin typeface="Calibri"/>
              </a:rPr>
              <a:t>Our current reading is that the inputs come in four kinds:</a:t>
            </a:r>
          </a:p>
          <a:p>
            <a:pPr algn="l" marL="182880" indent="-182880">
              <a:lnSpc>
                <a:spcPts val="1800"/>
              </a:lnSpc>
              <a:spcAft>
                <a:spcPts val="300"/>
              </a:spcAft>
              <a:buNone/>
            </a:pPr>
            <a:r>
              <a:rPr sz="1350" b="0" i="0">
                <a:solidFill>
                  <a:srgbClr val="262626"/>
                </a:solidFill>
                <a:latin typeface="Calibri"/>
              </a:rPr>
              <a:t>–  physical facts — pipeline, LNG and storage capacities, collected from ENTSOG, EIA, GIIGNL</a:t>
            </a:r>
          </a:p>
          <a:p>
            <a:pPr algn="l" marL="182880" indent="-182880">
              <a:lnSpc>
                <a:spcPts val="1800"/>
              </a:lnSpc>
              <a:spcAft>
                <a:spcPts val="300"/>
              </a:spcAft>
              <a:buNone/>
            </a:pPr>
            <a:r>
              <a:rPr sz="1350" b="0" i="0">
                <a:solidFill>
                  <a:srgbClr val="262626"/>
                </a:solidFill>
                <a:latin typeface="Calibri"/>
              </a:rPr>
              <a:t>–  projections — production and consumption read off a chosen WEO or PRIMES outlook</a:t>
            </a:r>
          </a:p>
          <a:p>
            <a:pPr algn="l" marL="182880" indent="-182880">
              <a:lnSpc>
                <a:spcPts val="1800"/>
              </a:lnSpc>
              <a:spcAft>
                <a:spcPts val="300"/>
              </a:spcAft>
              <a:buNone/>
            </a:pPr>
            <a:r>
              <a:rPr sz="1350" b="0" i="0">
                <a:solidFill>
                  <a:srgbClr val="262626"/>
                </a:solidFill>
                <a:latin typeface="Calibri"/>
              </a:rPr>
              <a:t>–  literature parameters — elasticities, base costs, set once and rarely touched</a:t>
            </a:r>
          </a:p>
          <a:p>
            <a:pPr algn="l" marL="182880" indent="-182880">
              <a:lnSpc>
                <a:spcPts val="1800"/>
              </a:lnSpc>
              <a:spcAft>
                <a:spcPts val="300"/>
              </a:spcAft>
              <a:buNone/>
            </a:pPr>
            <a:r>
              <a:rPr sz="1350" b="0" i="0">
                <a:solidFill>
                  <a:srgbClr val="262626"/>
                </a:solidFill>
                <a:latin typeface="Calibri"/>
              </a:rPr>
              <a:t>–  calibrated values — not collected anywhere, you tune them until the model matches reality</a:t>
            </a:r>
          </a:p>
          <a:p>
            <a:pPr algn="l">
              <a:lnSpc>
                <a:spcPts val="1800"/>
              </a:lnSpc>
              <a:spcAft>
                <a:spcPts val="300"/>
              </a:spcAft>
            </a:pPr>
            <a:r>
              <a:rPr sz="1350" b="0" i="1">
                <a:solidFill>
                  <a:srgbClr val="262626"/>
                </a:solidFill>
                <a:latin typeface="Calibri"/>
              </a:rPr>
              <a:t>Is that roughly how you think about it?</a:t>
            </a:r>
          </a:p>
        </p:txBody>
      </p:sp>
      <p:sp>
        <p:nvSpPr>
          <p:cNvPr id="5" name="TextBox 4"/>
          <p:cNvSpPr txBox="1"/>
          <p:nvPr/>
        </p:nvSpPr>
        <p:spPr>
          <a:xfrm>
            <a:off x="731520" y="3977639"/>
            <a:ext cx="10698480" cy="1005840"/>
          </a:xfrm>
          <a:prstGeom prst="rect">
            <a:avLst/>
          </a:prstGeom>
          <a:noFill/>
        </p:spPr>
        <p:txBody>
          <a:bodyPr wrap="square" lIns="0" rIns="0" tIns="0" bIns="0">
            <a:spAutoFit/>
          </a:bodyPr>
          <a:lstStyle/>
          <a:p>
            <a:pPr algn="l">
              <a:lnSpc>
                <a:spcPts val="1800"/>
              </a:lnSpc>
              <a:spcAft>
                <a:spcPts val="400"/>
              </a:spcAft>
            </a:pPr>
            <a:r>
              <a:rPr sz="1600" b="1" i="0">
                <a:solidFill>
                  <a:srgbClr val="262626"/>
                </a:solidFill>
                <a:latin typeface="Calibri"/>
              </a:rPr>
              <a:t>2.  How does calibration actually work in practice?</a:t>
            </a:r>
          </a:p>
          <a:p>
            <a:pPr algn="l">
              <a:lnSpc>
                <a:spcPts val="1800"/>
              </a:lnSpc>
              <a:spcAft>
                <a:spcPts val="400"/>
              </a:spcAft>
            </a:pPr>
            <a:r>
              <a:rPr sz="1350" b="0" i="0">
                <a:solidFill>
                  <a:srgbClr val="262626"/>
                </a:solidFill>
                <a:latin typeface="Calibri"/>
              </a:rPr>
              <a:t>The documentation says days to weeks for an experienced analyst, but not what you actually do. Could we walk through tuning one parameter — where you start, how you pick between the possible causes, and how you know when to stop?</a:t>
            </a:r>
          </a:p>
        </p:txBody>
      </p:sp>
      <p:sp>
        <p:nvSpPr>
          <p:cNvPr id="6" name="TextBox 5"/>
          <p:cNvSpPr txBox="1"/>
          <p:nvPr/>
        </p:nvSpPr>
        <p:spPr>
          <a:xfrm>
            <a:off x="731520" y="5349240"/>
            <a:ext cx="10698480" cy="914400"/>
          </a:xfrm>
          <a:prstGeom prst="rect">
            <a:avLst/>
          </a:prstGeom>
          <a:noFill/>
        </p:spPr>
        <p:txBody>
          <a:bodyPr wrap="square" lIns="0" rIns="0" tIns="0" bIns="0">
            <a:spAutoFit/>
          </a:bodyPr>
          <a:lstStyle/>
          <a:p>
            <a:pPr algn="l">
              <a:lnSpc>
                <a:spcPts val="1800"/>
              </a:lnSpc>
              <a:spcAft>
                <a:spcPts val="400"/>
              </a:spcAft>
            </a:pPr>
            <a:r>
              <a:rPr sz="1600" b="1" i="0">
                <a:solidFill>
                  <a:srgbClr val="262626"/>
                </a:solidFill>
                <a:latin typeface="Calibri"/>
              </a:rPr>
              <a:t>3.  Does the structure look sensible?</a:t>
            </a:r>
          </a:p>
          <a:p>
            <a:pPr algn="l">
              <a:lnSpc>
                <a:spcPts val="1800"/>
              </a:lnSpc>
              <a:spcAft>
                <a:spcPts val="400"/>
              </a:spcAft>
            </a:pPr>
            <a:r>
              <a:rPr sz="1350" b="0" i="0">
                <a:solidFill>
                  <a:srgbClr val="262626"/>
                </a:solidFill>
                <a:latin typeface="Calibri"/>
              </a:rPr>
              <a:t>Mainly: how narrow should the research question be, and do you want a proof of concept, or is the exploration enough on its 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38 — project thesis progress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